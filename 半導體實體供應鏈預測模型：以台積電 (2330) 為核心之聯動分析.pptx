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5" r:id="rId6"/>
    <p:sldId id="277" r:id="rId7"/>
    <p:sldId id="278" r:id="rId8"/>
    <p:sldId id="279" r:id="rId9"/>
    <p:sldId id="285" r:id="rId10"/>
    <p:sldId id="281" r:id="rId11"/>
    <p:sldId id="282" r:id="rId12"/>
    <p:sldId id="283" r:id="rId13"/>
    <p:sldId id="284" r:id="rId14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BF091C-CDC0-5D10-D1CC-1232B10ECDF2}" name="陳宥諭" initials="陳宥諭" userId="S::413580079@cloud.fju.edu.tw::2e9fd5f4-aab0-42c3-85b1-bab8fa266b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07" autoAdjust="0"/>
  </p:normalViewPr>
  <p:slideViewPr>
    <p:cSldViewPr snapToGrid="0" snapToObjects="1">
      <p:cViewPr varScale="1">
        <p:scale>
          <a:sx n="75" d="100"/>
          <a:sy n="75" d="100"/>
        </p:scale>
        <p:origin x="9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6" d="100"/>
          <a:sy n="76" d="100"/>
        </p:scale>
        <p:origin x="40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41B684-08BF-4160-925F-94EEF591033D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4937F0F-736C-40C5-8044-6397B182AAB6}" type="datetime1">
              <a:rPr lang="zh-TW" altLang="en-US" smtClean="0"/>
              <a:t>2026/3/25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3544625-0ADF-4414-89A2-9E135F0C849F}" type="slidenum">
              <a:rPr lang="en-US" altLang="zh-TW" smtClean="0"/>
              <a:pPr/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 baseline="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 baseline="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 baseline="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 baseline="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557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511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8875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0690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859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015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altLang="zh-TW" smtClean="0"/>
              <a:pPr/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165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標題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 baseline="0">
                <a:effectLst/>
                <a:latin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1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 baseline="0">
                <a:solidFill>
                  <a:schemeClr val="tx1"/>
                </a:solidFill>
                <a:latin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1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2CC61524-39DA-47C5-915E-07348001F406}" type="datetime1">
              <a:rPr lang="zh-TW" altLang="en-US" noProof="1" smtClean="0"/>
              <a:t>2026/3/25</a:t>
            </a:fld>
            <a:endParaRPr lang="zh-TW" altLang="en-US" noProof="1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endParaRPr lang="zh-TW" altLang="en-US" noProof="1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69E57DC2-970A-4B3E-BB1C-7A09969E49DF}" type="slidenum">
              <a:rPr lang="en-US" altLang="zh-TW" noProof="1" smtClean="0"/>
              <a:pPr/>
              <a:t>‹#›</a:t>
            </a:fld>
            <a:endParaRPr lang="zh-TW" altLang="en-US" noProof="1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AE91BB-401F-4CA3-859E-69B92B3BD325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185594-A10F-4EBB-8D85-0E342947DE82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>
            <a:lvl1pPr>
              <a:defRPr baseline="0">
                <a:latin typeface="Microsoft JhengHei UI" panose="020B0604030504040204" pitchFamily="34" charset="-120"/>
              </a:defRPr>
            </a:lvl1pPr>
            <a:lvl2pPr>
              <a:defRPr baseline="0">
                <a:latin typeface="Microsoft JhengHei UI" panose="020B0604030504040204" pitchFamily="34" charset="-120"/>
              </a:defRPr>
            </a:lvl2pPr>
            <a:lvl3pPr>
              <a:defRPr baseline="0">
                <a:latin typeface="Microsoft JhengHei UI" panose="020B0604030504040204" pitchFamily="34" charset="-120"/>
              </a:defRPr>
            </a:lvl3pPr>
            <a:lvl4pPr>
              <a:defRPr baseline="0">
                <a:latin typeface="Microsoft JhengHei UI" panose="020B0604030504040204" pitchFamily="34" charset="-120"/>
              </a:defRPr>
            </a:lvl4pPr>
            <a:lvl5pPr>
              <a:defRPr baseline="0">
                <a:latin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>
            <a:lvl1pPr>
              <a:defRPr baseline="0">
                <a:latin typeface="Microsoft JhengHei UI" panose="020B0604030504040204" pitchFamily="34" charset="-120"/>
              </a:defRPr>
            </a:lvl1pPr>
            <a:lvl2pPr>
              <a:defRPr baseline="0">
                <a:latin typeface="Microsoft JhengHei UI" panose="020B0604030504040204" pitchFamily="34" charset="-120"/>
              </a:defRPr>
            </a:lvl2pPr>
            <a:lvl3pPr>
              <a:defRPr baseline="0">
                <a:latin typeface="Microsoft JhengHei UI" panose="020B0604030504040204" pitchFamily="34" charset="-120"/>
              </a:defRPr>
            </a:lvl3pPr>
            <a:lvl4pPr>
              <a:defRPr baseline="0">
                <a:latin typeface="Microsoft JhengHei UI" panose="020B0604030504040204" pitchFamily="34" charset="-120"/>
              </a:defRPr>
            </a:lvl4pPr>
            <a:lvl5pPr>
              <a:defRPr baseline="0">
                <a:latin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5CAE0615-4101-4547-8371-5BA8FF740A30}" type="datetime1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69E57DC2-970A-4B3E-BB1C-7A09969E49DF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 baseline="0">
                <a:latin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>
            <a:lvl1pPr>
              <a:defRPr baseline="0">
                <a:latin typeface="Microsoft JhengHei UI" panose="020B0604030504040204" pitchFamily="34" charset="-120"/>
              </a:defRPr>
            </a:lvl1pPr>
            <a:lvl2pPr>
              <a:defRPr baseline="0">
                <a:latin typeface="Microsoft JhengHei UI" panose="020B0604030504040204" pitchFamily="34" charset="-120"/>
              </a:defRPr>
            </a:lvl2pPr>
            <a:lvl3pPr>
              <a:defRPr baseline="0">
                <a:latin typeface="Microsoft JhengHei UI" panose="020B0604030504040204" pitchFamily="34" charset="-120"/>
              </a:defRPr>
            </a:lvl3pPr>
            <a:lvl4pPr>
              <a:defRPr baseline="0">
                <a:latin typeface="Microsoft JhengHei UI" panose="020B0604030504040204" pitchFamily="34" charset="-120"/>
              </a:defRPr>
            </a:lvl4pPr>
            <a:lvl5pPr>
              <a:defRPr baseline="0">
                <a:latin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 baseline="0">
                <a:latin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>
            <a:lvl1pPr>
              <a:defRPr baseline="0">
                <a:latin typeface="Microsoft JhengHei UI" panose="020B0604030504040204" pitchFamily="34" charset="-120"/>
              </a:defRPr>
            </a:lvl1pPr>
            <a:lvl2pPr>
              <a:defRPr baseline="0">
                <a:latin typeface="Microsoft JhengHei UI" panose="020B0604030504040204" pitchFamily="34" charset="-120"/>
              </a:defRPr>
            </a:lvl2pPr>
            <a:lvl3pPr>
              <a:defRPr baseline="0">
                <a:latin typeface="Microsoft JhengHei UI" panose="020B0604030504040204" pitchFamily="34" charset="-120"/>
              </a:defRPr>
            </a:lvl3pPr>
            <a:lvl4pPr>
              <a:defRPr baseline="0">
                <a:latin typeface="Microsoft JhengHei UI" panose="020B0604030504040204" pitchFamily="34" charset="-120"/>
              </a:defRPr>
            </a:lvl4pPr>
            <a:lvl5pPr>
              <a:defRPr baseline="0">
                <a:latin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9D183315-9C58-4319-8B2B-B0D2D1B361F6}" type="datetime1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Microsoft JhengHei UI" panose="020B0604030504040204" pitchFamily="34" charset="-120"/>
              </a:defRPr>
            </a:lvl1pPr>
          </a:lstStyle>
          <a:p>
            <a:fld id="{69E57DC2-970A-4B3E-BB1C-7A09969E49DF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0215FE-910B-43BA-80AE-E19184383DC3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60B210-E7EF-4109-87CD-38210252E1AE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04EACA-D632-41A8-9F95-7F0D701A21F1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4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3A72E0-901D-4367-91E9-A0B2CBD7810A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BF389D-C72B-4664-B7D7-B996A06FEDD1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607640-D49B-4703-9236-AEEDB93CE2D7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標題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30C401-7E4C-4B88-8F54-29B45ACDC41F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87C284-D8FC-47A3-BC94-71281DDBFE84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標題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24C553-CD36-46CE-BA10-A2741A9A22EE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6B58E9-DB2B-4E54-82A1-15653DE6976D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31063D-A2E8-491D-A08D-A8689EF08F8A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天體-R1---重疊內容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5D708F-7499-4976-B98B-B248A5D579BB}" type="datetime1">
              <a:rPr lang="zh-TW" altLang="en-US" noProof="0" smtClean="0"/>
              <a:t>2026/3/25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98A58B9-9AD4-46FF-9FD4-853D8E15AB1B}" type="datetime1">
              <a:rPr lang="zh-TW" altLang="en-US" smtClean="0"/>
              <a:t>2026/3/25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9E57DC2-970A-4B3E-BB1C-7A09969E49DF}" type="slidenum">
              <a:rPr lang="en-US" altLang="zh-TW" smtClean="0"/>
              <a:pPr/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 baseline="0">
          <a:ln w="3175" cmpd="sng">
            <a:noFill/>
          </a:ln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 baseline="0"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 baseline="0"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 baseline="0"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 baseline="0"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 baseline="0">
          <a:solidFill>
            <a:schemeClr val="tx1"/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夜空與遙遠地平線上的群山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3120" y="2554817"/>
            <a:ext cx="8197006" cy="2421464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半導體實體供應鏈預測模型：以台積電 </a:t>
            </a:r>
            <a:r>
              <a:rPr lang="en-US" altLang="zh-TW" dirty="0"/>
              <a:t>(2330) </a:t>
            </a:r>
            <a:r>
              <a:rPr lang="zh-TW" altLang="en-US" dirty="0"/>
              <a:t>為核心之聯動分析</a:t>
            </a:r>
            <a:endParaRPr lang="zh-TW" altLang="en-US" b="1" noProof="1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9236" y="4976282"/>
            <a:ext cx="7720889" cy="1405467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整合環球晶、台達電、中鼎與 </a:t>
            </a:r>
            <a:r>
              <a:rPr lang="en-US" altLang="zh-TW" dirty="0"/>
              <a:t>VIX TWN </a:t>
            </a:r>
            <a:r>
              <a:rPr lang="zh-TW" altLang="en-US" dirty="0"/>
              <a:t>之多空對稱預測架構</a:t>
            </a:r>
            <a:endParaRPr lang="en-US" altLang="zh-TW" dirty="0"/>
          </a:p>
          <a:p>
            <a:br>
              <a:rPr lang="zh-TW" altLang="en-US" dirty="0"/>
            </a:br>
            <a:r>
              <a:rPr lang="zh-TW" altLang="en-US" dirty="0"/>
              <a:t>學號：</a:t>
            </a:r>
            <a:r>
              <a:rPr lang="en-US" altLang="zh-TW" dirty="0"/>
              <a:t>413580079</a:t>
            </a:r>
            <a:r>
              <a:rPr lang="zh-TW" altLang="en-US" dirty="0"/>
              <a:t>  系級：智慧資安二  姓名：陳宥諭</a:t>
            </a:r>
            <a:endParaRPr lang="en-US" altLang="zh-TW" noProof="1">
              <a:solidFill>
                <a:schemeClr val="accent1">
                  <a:lumMod val="40000"/>
                  <a:lumOff val="6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64E8A13-98A2-DD9F-53FE-F761DDA9C82B}"/>
              </a:ext>
            </a:extLst>
          </p:cNvPr>
          <p:cNvSpPr txBox="1">
            <a:spLocks/>
          </p:cNvSpPr>
          <p:nvPr/>
        </p:nvSpPr>
        <p:spPr>
          <a:xfrm>
            <a:off x="623835" y="1795617"/>
            <a:ext cx="10798278" cy="49898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 baseline="0">
                <a:ln w="3175" cmpd="sng"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1263D779-EA4C-9C24-B395-C0F97F2088FE}"/>
              </a:ext>
            </a:extLst>
          </p:cNvPr>
          <p:cNvSpPr txBox="1">
            <a:spLocks/>
          </p:cNvSpPr>
          <p:nvPr/>
        </p:nvSpPr>
        <p:spPr>
          <a:xfrm>
            <a:off x="685799" y="2450693"/>
            <a:ext cx="10880459" cy="7669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0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800" dirty="0"/>
          </a:p>
        </p:txBody>
      </p:sp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A57C402B-B9CC-D187-8BBA-3625FB39C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9021" y="306839"/>
            <a:ext cx="11466509" cy="368604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TW" altLang="en-US" sz="2800" dirty="0"/>
              <a:t>研究背景：</a:t>
            </a:r>
            <a:endParaRPr lang="en-US" altLang="zh-TW" sz="2400" dirty="0"/>
          </a:p>
          <a:p>
            <a:pPr lvl="1"/>
            <a:r>
              <a:rPr lang="zh-TW" altLang="en-US" sz="1900" b="1" dirty="0"/>
              <a:t>半導體生產要素的轉變</a:t>
            </a:r>
            <a:r>
              <a:rPr lang="zh-TW" altLang="en-US" sz="1900" dirty="0"/>
              <a:t>：在 </a:t>
            </a:r>
            <a:r>
              <a:rPr lang="en-US" altLang="zh-TW" sz="1900" dirty="0"/>
              <a:t>2026 </a:t>
            </a:r>
            <a:r>
              <a:rPr lang="zh-TW" altLang="en-US" sz="1900" dirty="0"/>
              <a:t>年，決定台積電產能的關鍵不再只是訂單，而是</a:t>
            </a:r>
            <a:r>
              <a:rPr lang="zh-TW" altLang="en-US" sz="1900" b="1" dirty="0"/>
              <a:t>實體資源的可用性</a:t>
            </a:r>
            <a:r>
              <a:rPr lang="zh-TW" altLang="en-US" sz="1900" dirty="0"/>
              <a:t>（矽、水、電）。</a:t>
            </a:r>
            <a:endParaRPr lang="en-US" altLang="zh-TW" sz="1900" dirty="0"/>
          </a:p>
          <a:p>
            <a:pPr lvl="1"/>
            <a:r>
              <a:rPr lang="zh-TW" altLang="en-US" sz="1900" b="1" dirty="0"/>
              <a:t>在地聯動效應</a:t>
            </a:r>
            <a:r>
              <a:rPr lang="zh-TW" altLang="en-US" sz="1900" dirty="0"/>
              <a:t>：台積電與台灣在地供應鏈（台達電、環球晶、兆聯）已形成高度緊密的</a:t>
            </a:r>
            <a:r>
              <a:rPr lang="zh-TW" altLang="en-US" sz="1900" b="1" dirty="0"/>
              <a:t>生命共同體</a:t>
            </a:r>
            <a:r>
              <a:rPr lang="zh-TW" altLang="en-US" sz="1900" dirty="0"/>
              <a:t>，這些公司的營運數據與股價異動，具備極強的領先預測價值。</a:t>
            </a:r>
            <a:endParaRPr lang="en-US" altLang="zh-TW" sz="19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TW" altLang="en-US" sz="3000" dirty="0"/>
              <a:t>研究動機：</a:t>
            </a:r>
            <a:endParaRPr lang="en-US" altLang="zh-TW" sz="2600" dirty="0"/>
          </a:p>
          <a:p>
            <a:pPr lvl="1"/>
            <a:r>
              <a:rPr lang="en-US" altLang="zh-TW" sz="1900" dirty="0"/>
              <a:t>1.</a:t>
            </a:r>
            <a:r>
              <a:rPr lang="zh-TW" altLang="en-US" sz="1900" b="1" dirty="0"/>
              <a:t>打破因子滯後性</a:t>
            </a:r>
            <a:r>
              <a:rPr lang="zh-TW" altLang="en-US" sz="1900" dirty="0"/>
              <a:t>：全球大宗商品（如銅）受通膨與戰爭影響雜訊過多，而環球晶（矽晶圓）的投片數據、台達電的能源管理動能，能更純粹地反映台積電的實務需求。</a:t>
            </a:r>
            <a:r>
              <a:rPr lang="en-US" altLang="zh-TW" sz="1900" dirty="0"/>
              <a:t>	</a:t>
            </a:r>
          </a:p>
          <a:p>
            <a:pPr lvl="1"/>
            <a:r>
              <a:rPr lang="en-US" altLang="zh-TW" sz="1900" dirty="0"/>
              <a:t>2.</a:t>
            </a:r>
            <a:r>
              <a:rPr lang="zh-TW" altLang="en-US" sz="1900" b="1" dirty="0"/>
              <a:t>準捕捉 </a:t>
            </a:r>
            <a:r>
              <a:rPr lang="en-US" altLang="zh-TW" sz="1900" b="1" dirty="0"/>
              <a:t>3/27 - 4/2 </a:t>
            </a:r>
            <a:r>
              <a:rPr lang="zh-TW" altLang="en-US" sz="1900" b="1" dirty="0"/>
              <a:t>的季底效應</a:t>
            </a:r>
            <a:r>
              <a:rPr lang="zh-TW" altLang="en-US" sz="1900" dirty="0"/>
              <a:t>：月底是供應鏈結算與資本支出調整的關鍵點。透過在地指標股，能更敏銳地捕捉法人對台積電下一季度產能利用率的預判。</a:t>
            </a:r>
            <a:endParaRPr lang="en-US" altLang="zh-TW" sz="19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TW" altLang="en-US" sz="18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F24C521-7E36-A95C-60D7-EF7181CAB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916973"/>
              </p:ext>
            </p:extLst>
          </p:nvPr>
        </p:nvGraphicFramePr>
        <p:xfrm>
          <a:off x="816875" y="4185305"/>
          <a:ext cx="6934201" cy="193040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1256620">
                  <a:extLst>
                    <a:ext uri="{9D8B030D-6E8A-4147-A177-3AD203B41FA5}">
                      <a16:colId xmlns:a16="http://schemas.microsoft.com/office/drawing/2014/main" val="464829930"/>
                    </a:ext>
                  </a:extLst>
                </a:gridCol>
                <a:gridCol w="5677581">
                  <a:extLst>
                    <a:ext uri="{9D8B030D-6E8A-4147-A177-3AD203B41FA5}">
                      <a16:colId xmlns:a16="http://schemas.microsoft.com/office/drawing/2014/main" val="209301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預測標的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台積電 </a:t>
                      </a:r>
                      <a:r>
                        <a:rPr lang="en-US" altLang="zh-TW" dirty="0"/>
                        <a:t>(2330.TW)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349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預測區間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2026/03/27 – 2026/04/02</a:t>
                      </a:r>
                      <a:r>
                        <a:rPr lang="zh-TW" alt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49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關鍵因子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環</a:t>
                      </a:r>
                      <a:r>
                        <a:rPr lang="zh-TW" altLang="en-US" b="1" dirty="0"/>
                        <a:t>球晶 </a:t>
                      </a:r>
                      <a:r>
                        <a:rPr lang="en-US" altLang="zh-TW" b="1" dirty="0"/>
                        <a:t>(6488)</a:t>
                      </a:r>
                      <a:r>
                        <a:rPr lang="zh-TW" altLang="en-US" dirty="0"/>
                        <a:t>：代表「材料端 </a:t>
                      </a:r>
                      <a:r>
                        <a:rPr lang="en-US" altLang="zh-TW" dirty="0"/>
                        <a:t>(Silicon)</a:t>
                      </a:r>
                      <a:r>
                        <a:rPr lang="zh-TW" altLang="en-US" dirty="0"/>
                        <a:t>」。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台</a:t>
                      </a:r>
                      <a:r>
                        <a:rPr lang="zh-TW" altLang="en-US" b="1" dirty="0"/>
                        <a:t>達電 </a:t>
                      </a:r>
                      <a:r>
                        <a:rPr lang="en-US" altLang="zh-TW" b="1" dirty="0"/>
                        <a:t>(2308)</a:t>
                      </a:r>
                      <a:r>
                        <a:rPr lang="zh-TW" altLang="en-US" dirty="0"/>
                        <a:t>：代表「能源管理端 </a:t>
                      </a:r>
                      <a:r>
                        <a:rPr lang="en-US" altLang="zh-TW" dirty="0"/>
                        <a:t>(Energy)</a:t>
                      </a:r>
                      <a:r>
                        <a:rPr lang="zh-TW" altLang="en-US" dirty="0"/>
                        <a:t>」。</a:t>
                      </a:r>
                      <a:endParaRPr lang="en-US" altLang="zh-TW" dirty="0"/>
                    </a:p>
                    <a:p>
                      <a:r>
                        <a:rPr lang="zh-TW" altLang="en-US" b="1" dirty="0"/>
                        <a:t>兆聯</a:t>
                      </a:r>
                      <a:r>
                        <a:rPr lang="en-US" altLang="zh-TW" b="1" dirty="0"/>
                        <a:t>(6944)</a:t>
                      </a:r>
                      <a:r>
                        <a:rPr lang="zh-TW" altLang="en-US" dirty="0"/>
                        <a:t>：代表「水資源與基建端 </a:t>
                      </a:r>
                      <a:r>
                        <a:rPr lang="en-US" altLang="zh-TW" dirty="0"/>
                        <a:t>(Water)</a:t>
                      </a:r>
                      <a:r>
                        <a:rPr lang="zh-TW" altLang="en-US" dirty="0"/>
                        <a:t>」。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台指數</a:t>
                      </a:r>
                      <a:r>
                        <a:rPr lang="en-US" altLang="zh-TW" dirty="0"/>
                        <a:t>(TX)</a:t>
                      </a:r>
                      <a:r>
                        <a:rPr lang="zh-TW" altLang="en-US" dirty="0"/>
                        <a:t>：代表「在地恐慌情緒 </a:t>
                      </a:r>
                      <a:r>
                        <a:rPr lang="en-US" altLang="zh-TW" dirty="0"/>
                        <a:t>(Local Sentiment)</a:t>
                      </a:r>
                      <a:r>
                        <a:rPr lang="zh-TW" altLang="en-US" dirty="0"/>
                        <a:t>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83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6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4434A-19A1-7E20-533D-A74B8926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33" y="147481"/>
            <a:ext cx="10427630" cy="699273"/>
          </a:xfrm>
        </p:spPr>
        <p:txBody>
          <a:bodyPr>
            <a:normAutofit/>
          </a:bodyPr>
          <a:lstStyle/>
          <a:p>
            <a:r>
              <a:rPr lang="zh-TW" altLang="en-US" dirty="0"/>
              <a:t>系統架構與特徵工程 </a:t>
            </a:r>
            <a:r>
              <a:rPr lang="en-US" altLang="zh-TW" dirty="0"/>
              <a:t>(System Architecture &amp; Feature Engineering)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C942C40-23B9-CB05-0C7B-29D230DE1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99104"/>
              </p:ext>
            </p:extLst>
          </p:nvPr>
        </p:nvGraphicFramePr>
        <p:xfrm>
          <a:off x="531035" y="977072"/>
          <a:ext cx="3062397" cy="2565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397">
                  <a:extLst>
                    <a:ext uri="{9D8B030D-6E8A-4147-A177-3AD203B41FA5}">
                      <a16:colId xmlns:a16="http://schemas.microsoft.com/office/drawing/2014/main" val="435616233"/>
                    </a:ext>
                  </a:extLst>
                </a:gridCol>
              </a:tblGrid>
              <a:tr h="381813"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資料層</a:t>
                      </a:r>
                      <a:r>
                        <a:rPr lang="en-US" altLang="zh-TW" dirty="0"/>
                        <a:t>(Data Layer)</a:t>
                      </a:r>
                    </a:p>
                    <a:p>
                      <a:r>
                        <a:rPr lang="en-US" altLang="zh-TW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Yahoo Finance API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31022"/>
                  </a:ext>
                </a:extLst>
              </a:tr>
              <a:tr h="364048">
                <a:tc>
                  <a:txBody>
                    <a:bodyPr/>
                    <a:lstStyle/>
                    <a:p>
                      <a:r>
                        <a:rPr lang="zh-TW" altLang="en-US" dirty="0"/>
                        <a:t>台積電 </a:t>
                      </a:r>
                      <a:r>
                        <a:rPr lang="en-US" altLang="zh-TW" dirty="0"/>
                        <a:t>(2330.TW)</a:t>
                      </a:r>
                      <a:r>
                        <a:rPr lang="zh-TW" alt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51514"/>
                  </a:ext>
                </a:extLst>
              </a:tr>
              <a:tr h="381813">
                <a:tc>
                  <a:txBody>
                    <a:bodyPr/>
                    <a:lstStyle/>
                    <a:p>
                      <a:r>
                        <a:rPr lang="zh-TW" altLang="en-US" dirty="0"/>
                        <a:t>環球晶 </a:t>
                      </a:r>
                      <a:r>
                        <a:rPr lang="en-US" altLang="zh-TW" dirty="0"/>
                        <a:t>(6488.TW)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—— </a:t>
                      </a:r>
                      <a:r>
                        <a:rPr lang="zh-TW" altLang="en-US" dirty="0"/>
                        <a:t>材料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697400"/>
                  </a:ext>
                </a:extLst>
              </a:tr>
              <a:tr h="414602">
                <a:tc>
                  <a:txBody>
                    <a:bodyPr/>
                    <a:lstStyle/>
                    <a:p>
                      <a:r>
                        <a:rPr lang="zh-TW" altLang="en-US" dirty="0"/>
                        <a:t>台達電 </a:t>
                      </a:r>
                      <a:r>
                        <a:rPr lang="en-US" altLang="zh-TW" dirty="0"/>
                        <a:t>(2308.TW) —— </a:t>
                      </a:r>
                      <a:r>
                        <a:rPr lang="zh-TW" altLang="en-US" dirty="0"/>
                        <a:t>能源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307908"/>
                  </a:ext>
                </a:extLst>
              </a:tr>
              <a:tr h="381813">
                <a:tc>
                  <a:txBody>
                    <a:bodyPr/>
                    <a:lstStyle/>
                    <a:p>
                      <a:r>
                        <a:rPr lang="zh-TW" altLang="en-US" dirty="0"/>
                        <a:t>兆聯 </a:t>
                      </a:r>
                      <a:r>
                        <a:rPr lang="en-US" altLang="zh-TW" dirty="0"/>
                        <a:t>(6944.TW) —— </a:t>
                      </a:r>
                      <a:r>
                        <a:rPr lang="zh-TW" altLang="en-US" dirty="0"/>
                        <a:t>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32644"/>
                  </a:ext>
                </a:extLst>
              </a:tr>
              <a:tr h="381813">
                <a:tc>
                  <a:txBody>
                    <a:bodyPr/>
                    <a:lstStyle/>
                    <a:p>
                      <a:r>
                        <a:rPr lang="zh-TW" altLang="en-US" dirty="0"/>
                        <a:t>台指數</a:t>
                      </a:r>
                      <a:r>
                        <a:rPr lang="en-US" altLang="zh-TW" dirty="0"/>
                        <a:t>(TSEC) ——</a:t>
                      </a:r>
                      <a:r>
                        <a:rPr lang="zh-TW" altLang="en-US" dirty="0"/>
                        <a:t>風險指標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24033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0D85A20-9CE3-827B-7A95-1523E82A2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760634"/>
              </p:ext>
            </p:extLst>
          </p:nvPr>
        </p:nvGraphicFramePr>
        <p:xfrm>
          <a:off x="4256506" y="977071"/>
          <a:ext cx="3062397" cy="25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397">
                  <a:extLst>
                    <a:ext uri="{9D8B030D-6E8A-4147-A177-3AD203B41FA5}">
                      <a16:colId xmlns:a16="http://schemas.microsoft.com/office/drawing/2014/main" val="2812426898"/>
                    </a:ext>
                  </a:extLst>
                </a:gridCol>
              </a:tblGrid>
              <a:tr h="440156">
                <a:tc>
                  <a:txBody>
                    <a:bodyPr/>
                    <a:lstStyle/>
                    <a:p>
                      <a:r>
                        <a:rPr lang="zh-TW" altLang="en-US" dirty="0"/>
                        <a:t>模</a:t>
                      </a:r>
                      <a:r>
                        <a:rPr lang="zh-TW" altLang="en-US" b="1" dirty="0"/>
                        <a:t>型層 </a:t>
                      </a:r>
                      <a:r>
                        <a:rPr lang="en-US" altLang="zh-TW" b="1" dirty="0"/>
                        <a:t>(Model Layer)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030053"/>
                  </a:ext>
                </a:extLst>
              </a:tr>
              <a:tr h="1062862"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時序滯後 </a:t>
                      </a:r>
                      <a:r>
                        <a:rPr lang="en-US" altLang="zh-TW" b="1" dirty="0"/>
                        <a:t>(Lag-1)</a:t>
                      </a:r>
                      <a:r>
                        <a:rPr lang="zh-TW" altLang="en-US" dirty="0"/>
                        <a:t>：確保所有預測因子皆為「昨日既定事實」。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212434"/>
                  </a:ext>
                </a:extLst>
              </a:tr>
              <a:tr h="1062862">
                <a:tc>
                  <a:txBody>
                    <a:bodyPr/>
                    <a:lstStyle/>
                    <a:p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核心模型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 err="1"/>
                        <a:t>XGBoost</a:t>
                      </a:r>
                      <a:r>
                        <a:rPr lang="en-US" altLang="zh-TW" dirty="0"/>
                        <a:t> (</a:t>
                      </a:r>
                      <a:r>
                        <a:rPr lang="zh-TW" altLang="en-US" dirty="0"/>
                        <a:t>非線性回歸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88624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4A6B700-4277-6240-372F-C46F633DF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63090"/>
              </p:ext>
            </p:extLst>
          </p:nvPr>
        </p:nvGraphicFramePr>
        <p:xfrm>
          <a:off x="7981977" y="988627"/>
          <a:ext cx="3062397" cy="25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397">
                  <a:extLst>
                    <a:ext uri="{9D8B030D-6E8A-4147-A177-3AD203B41FA5}">
                      <a16:colId xmlns:a16="http://schemas.microsoft.com/office/drawing/2014/main" val="1766384852"/>
                    </a:ext>
                  </a:extLst>
                </a:gridCol>
              </a:tblGrid>
              <a:tr h="468866">
                <a:tc>
                  <a:txBody>
                    <a:bodyPr/>
                    <a:lstStyle/>
                    <a:p>
                      <a:r>
                        <a:rPr lang="zh-TW" altLang="en-US" dirty="0"/>
                        <a:t>策略層 </a:t>
                      </a:r>
                      <a:r>
                        <a:rPr lang="en-US" altLang="zh-TW" dirty="0"/>
                        <a:t>(Strategy Layer)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27501"/>
                  </a:ext>
                </a:extLst>
              </a:tr>
              <a:tr h="1048507">
                <a:tc>
                  <a:txBody>
                    <a:bodyPr/>
                    <a:lstStyle/>
                    <a:p>
                      <a:r>
                        <a:rPr lang="zh-TW" altLang="en-US" dirty="0"/>
                        <a:t>訊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號生成</a:t>
                      </a:r>
                      <a:r>
                        <a:rPr lang="zh-TW" altLang="en-US" dirty="0"/>
                        <a:t>：多空對稱交易邏輯。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095917"/>
                  </a:ext>
                </a:extLst>
              </a:tr>
              <a:tr h="1048507">
                <a:tc>
                  <a:txBody>
                    <a:bodyPr/>
                    <a:lstStyle/>
                    <a:p>
                      <a:r>
                        <a:rPr lang="zh-TW" altLang="en-US" dirty="0"/>
                        <a:t>風</a:t>
                      </a:r>
                      <a:r>
                        <a:rPr lang="zh-TW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險控管</a:t>
                      </a:r>
                      <a:r>
                        <a:rPr lang="zh-TW" altLang="en-US" dirty="0"/>
                        <a:t>：動態倉位 </a:t>
                      </a:r>
                      <a:r>
                        <a:rPr lang="en-US" altLang="zh-TW" dirty="0"/>
                        <a:t>+ MA20 </a:t>
                      </a:r>
                      <a:r>
                        <a:rPr lang="zh-TW" altLang="en-US" dirty="0"/>
                        <a:t>濾網。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477498"/>
                  </a:ext>
                </a:extLst>
              </a:tr>
            </a:tbl>
          </a:graphicData>
        </a:graphic>
      </p:graphicFrame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3E5F43A4-86A8-F6F2-1F7B-B8FAD8A079E1}"/>
              </a:ext>
            </a:extLst>
          </p:cNvPr>
          <p:cNvSpPr/>
          <p:nvPr/>
        </p:nvSpPr>
        <p:spPr>
          <a:xfrm>
            <a:off x="3673642" y="1952137"/>
            <a:ext cx="502653" cy="5133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14DFC668-5ADB-DB7D-EFD9-8C90369A27D9}"/>
              </a:ext>
            </a:extLst>
          </p:cNvPr>
          <p:cNvSpPr/>
          <p:nvPr/>
        </p:nvSpPr>
        <p:spPr>
          <a:xfrm>
            <a:off x="7399113" y="1952136"/>
            <a:ext cx="502653" cy="5133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8BD2CB5-E9F7-F4E9-15FC-DEEE84439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8660"/>
              </p:ext>
            </p:extLst>
          </p:nvPr>
        </p:nvGraphicFramePr>
        <p:xfrm>
          <a:off x="540741" y="3724675"/>
          <a:ext cx="11120226" cy="30372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6742">
                  <a:extLst>
                    <a:ext uri="{9D8B030D-6E8A-4147-A177-3AD203B41FA5}">
                      <a16:colId xmlns:a16="http://schemas.microsoft.com/office/drawing/2014/main" val="1900337766"/>
                    </a:ext>
                  </a:extLst>
                </a:gridCol>
                <a:gridCol w="3706742">
                  <a:extLst>
                    <a:ext uri="{9D8B030D-6E8A-4147-A177-3AD203B41FA5}">
                      <a16:colId xmlns:a16="http://schemas.microsoft.com/office/drawing/2014/main" val="534045701"/>
                    </a:ext>
                  </a:extLst>
                </a:gridCol>
                <a:gridCol w="3706742">
                  <a:extLst>
                    <a:ext uri="{9D8B030D-6E8A-4147-A177-3AD203B41FA5}">
                      <a16:colId xmlns:a16="http://schemas.microsoft.com/office/drawing/2014/main" val="3926375101"/>
                    </a:ext>
                  </a:extLst>
                </a:gridCol>
              </a:tblGrid>
              <a:tr h="409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供應鏈維度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代表標的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選用邏輯 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對台積電的預測價值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591539"/>
                  </a:ext>
                </a:extLst>
              </a:tr>
              <a:tr h="656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材料端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Material)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環球晶 </a:t>
                      </a:r>
                      <a:r>
                        <a:rPr lang="en-US" altLang="zh-TW" b="1"/>
                        <a:t>(6488)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矽晶圓投片量指標。其股價波動反映了半導體上游的最真實需求。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970450"/>
                  </a:ext>
                </a:extLst>
              </a:tr>
              <a:tr h="656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能源端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Energy)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台達電 </a:t>
                      </a:r>
                      <a:r>
                        <a:rPr lang="en-US" altLang="zh-TW" b="1"/>
                        <a:t>(2308)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電源管理龍頭。反映晶圓廠擴產與資料中心能源基建的資本支出動能。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558228"/>
                  </a:ext>
                </a:extLst>
              </a:tr>
              <a:tr h="656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工程端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Water/Base)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/>
                        <a:t>兆聯 </a:t>
                      </a:r>
                      <a:r>
                        <a:rPr lang="en-US" altLang="zh-TW" b="1" dirty="0"/>
                        <a:t>(6944)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廠務工程指標。反映台積電實體建廠進度與資源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水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廢棄物</a:t>
                      </a:r>
                      <a:r>
                        <a:rPr lang="en-US" altLang="zh-TW" dirty="0"/>
                        <a:t>)</a:t>
                      </a:r>
                      <a:r>
                        <a:rPr lang="zh-TW" altLang="en-US" dirty="0"/>
                        <a:t>處理韌性。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026736"/>
                  </a:ext>
                </a:extLst>
              </a:tr>
              <a:tr h="656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情緒端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Risk)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台指期</a:t>
                      </a:r>
                      <a:r>
                        <a:rPr lang="en-US" altLang="zh-TW" b="1" dirty="0"/>
                        <a:t>(</a:t>
                      </a:r>
                      <a:r>
                        <a:rPr lang="en-US" altLang="zh-TW" dirty="0"/>
                        <a:t>TX</a:t>
                      </a:r>
                      <a:r>
                        <a:rPr lang="en-US" altLang="zh-TW" b="1" dirty="0"/>
                        <a:t>)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台股專屬風險情緒，捕捉內資與外資在權值股上的避險行為。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99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95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FFD58-1456-8048-4EDA-30BB6A5D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51" y="325963"/>
            <a:ext cx="9796780" cy="628227"/>
          </a:xfrm>
        </p:spPr>
        <p:txBody>
          <a:bodyPr>
            <a:normAutofit/>
          </a:bodyPr>
          <a:lstStyle/>
          <a:p>
            <a:r>
              <a:rPr lang="zh-TW" altLang="en-US" dirty="0"/>
              <a:t>相關性驗證與非線性特徵解析 </a:t>
            </a:r>
            <a:r>
              <a:rPr lang="en-US" altLang="zh-TW" dirty="0"/>
              <a:t>(Correlation &amp; Feature Insights)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07C41F0-A846-1936-A771-45E686FE1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222" y="2039830"/>
            <a:ext cx="5278845" cy="2778339"/>
          </a:xfrm>
          <a:prstGeom prst="rect">
            <a:avLst/>
          </a:prstGeom>
        </p:spPr>
      </p:pic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id="{C5AFB19E-3171-066E-69F1-924CD12EE829}"/>
              </a:ext>
            </a:extLst>
          </p:cNvPr>
          <p:cNvSpPr txBox="1">
            <a:spLocks/>
          </p:cNvSpPr>
          <p:nvPr/>
        </p:nvSpPr>
        <p:spPr>
          <a:xfrm>
            <a:off x="559451" y="1082643"/>
            <a:ext cx="6144771" cy="5135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為何線性相關性低？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領先</a:t>
            </a:r>
            <a:r>
              <a:rPr lang="en-US" altLang="zh-TW" sz="1800" b="1" dirty="0"/>
              <a:t>/</a:t>
            </a:r>
            <a:r>
              <a:rPr lang="zh-TW" altLang="en-US" sz="1800" b="1" dirty="0"/>
              <a:t>滯後效應</a:t>
            </a:r>
            <a:r>
              <a:rPr lang="zh-TW" altLang="en-US" sz="1800" dirty="0"/>
              <a:t>：材料端（環球晶）的訂單變化可能領先台積電股價反應，單純同步相關性自然較低。</a:t>
            </a:r>
            <a:endParaRPr lang="en-US" altLang="zh-TW" sz="1800" b="1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市場雜訊干擾</a:t>
            </a:r>
            <a:r>
              <a:rPr lang="zh-TW" altLang="en-US" sz="1800" dirty="0"/>
              <a:t>：權值股受大盤指數與匯率影響大，遮蔽了供應鏈因子的微弱訊號。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非線性特徵</a:t>
            </a:r>
            <a:r>
              <a:rPr lang="zh-TW" altLang="en-US" sz="1800" dirty="0"/>
              <a:t>：能源成本（台達電）對台積電的影響通常存在「閾值效應」（例如電力成本超過一定比例才會反映在股價）。</a:t>
            </a:r>
            <a:endParaRPr lang="en-US" altLang="zh-TW" sz="18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解決方案：為什麼選擇</a:t>
            </a:r>
            <a:r>
              <a:rPr lang="en-US" altLang="zh-TW" dirty="0" err="1"/>
              <a:t>XGBoost</a:t>
            </a:r>
            <a:r>
              <a:rPr lang="zh-TW" altLang="en-US" dirty="0"/>
              <a:t>？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處理非平穩數據</a:t>
            </a:r>
            <a:r>
              <a:rPr lang="zh-TW" altLang="en-US" sz="1800" dirty="0"/>
              <a:t>：對於供應鏈這種具備結構性轉折的數據，決策樹演算法具備更強的魯棒性。</a:t>
            </a:r>
            <a:endParaRPr lang="en-US" altLang="zh-TW" sz="18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關鍵發現</a:t>
            </a:r>
            <a:r>
              <a:rPr lang="en-US" altLang="zh-TW" b="1" dirty="0"/>
              <a:t>(Key Insights)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實體因子之必要性</a:t>
            </a:r>
            <a:r>
              <a:rPr lang="zh-TW" altLang="en-US" sz="1800" dirty="0"/>
              <a:t>：雖然線性相關性低，但這些因子提供了價量指標所沒有的「物理邊界」資訊。</a:t>
            </a:r>
          </a:p>
        </p:txBody>
      </p:sp>
    </p:spTree>
    <p:extLst>
      <p:ext uri="{BB962C8B-B14F-4D97-AF65-F5344CB8AC3E}">
        <p14:creationId xmlns:p14="http://schemas.microsoft.com/office/powerpoint/2010/main" val="234372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1603F-3E6C-C456-8C9E-669838E8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31" y="369800"/>
            <a:ext cx="10355825" cy="865239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模型架構與多因子融合 </a:t>
            </a:r>
            <a:r>
              <a:rPr lang="en-US" altLang="zh-TW" sz="2400" dirty="0"/>
              <a:t>(Model Architecture &amp; Feature Fusion)</a:t>
            </a:r>
            <a:endParaRPr lang="zh-TW" altLang="en-US" sz="2400" dirty="0"/>
          </a:p>
        </p:txBody>
      </p:sp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89774012-12A1-D588-73EF-7EB34698ADF1}"/>
              </a:ext>
            </a:extLst>
          </p:cNvPr>
          <p:cNvSpPr txBox="1">
            <a:spLocks/>
          </p:cNvSpPr>
          <p:nvPr/>
        </p:nvSpPr>
        <p:spPr>
          <a:xfrm>
            <a:off x="560828" y="1235040"/>
            <a:ext cx="6144771" cy="5135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特徵處理技術：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波動率提取 </a:t>
            </a:r>
            <a:r>
              <a:rPr lang="en-US" altLang="zh-TW" sz="1800" b="1" dirty="0"/>
              <a:t>(Volatility Extraction)</a:t>
            </a:r>
            <a:r>
              <a:rPr lang="zh-TW" altLang="en-US" sz="1800" dirty="0"/>
              <a:t>：雖然沒有直接的 </a:t>
            </a:r>
            <a:r>
              <a:rPr lang="en-US" altLang="zh-TW" sz="1800" dirty="0"/>
              <a:t>VIX </a:t>
            </a:r>
            <a:r>
              <a:rPr lang="zh-TW" altLang="en-US" sz="1800" dirty="0"/>
              <a:t>數據，但我們透過計算台指期的 </a:t>
            </a:r>
            <a:r>
              <a:rPr lang="en-US" altLang="zh-TW" sz="1800" b="1" dirty="0"/>
              <a:t>ATR (</a:t>
            </a:r>
            <a:r>
              <a:rPr lang="zh-TW" altLang="en-US" sz="1800" b="1" dirty="0"/>
              <a:t>平均真實波幅</a:t>
            </a:r>
            <a:r>
              <a:rPr lang="en-US" altLang="zh-TW" sz="1800" b="1" dirty="0"/>
              <a:t>)</a:t>
            </a:r>
            <a:r>
              <a:rPr lang="zh-TW" altLang="en-US" sz="1800" dirty="0"/>
              <a:t> 或 </a:t>
            </a:r>
            <a:r>
              <a:rPr lang="en-US" altLang="zh-TW" sz="1800" b="1" dirty="0"/>
              <a:t>20</a:t>
            </a:r>
            <a:r>
              <a:rPr lang="zh-TW" altLang="en-US" sz="1800" b="1" dirty="0"/>
              <a:t>日歷史波動率</a:t>
            </a:r>
            <a:r>
              <a:rPr lang="zh-TW" altLang="en-US" sz="1800" dirty="0"/>
              <a:t>，來模擬市場的恐慌程度。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台指期領先性</a:t>
            </a:r>
            <a:r>
              <a:rPr lang="zh-TW" altLang="en-US" sz="1800" dirty="0"/>
              <a:t>：利用台指期夜盤與早盤的價差（</a:t>
            </a:r>
            <a:r>
              <a:rPr lang="en-US" altLang="zh-TW" sz="1800" dirty="0"/>
              <a:t>Gap</a:t>
            </a:r>
            <a:r>
              <a:rPr lang="zh-TW" altLang="en-US" sz="1800" dirty="0"/>
              <a:t>），捕捉美股收盤後對台股的第一手衝擊，作為台積電開盤預測的重要特徵。</a:t>
            </a:r>
            <a:endParaRPr lang="en-US" altLang="zh-TW" sz="18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機器學習訓練策略：</a:t>
            </a:r>
            <a:r>
              <a:rPr lang="en-US" altLang="zh-TW" dirty="0" err="1"/>
              <a:t>XGBoost</a:t>
            </a:r>
            <a:r>
              <a:rPr lang="en-US" altLang="zh-TW" dirty="0"/>
              <a:t> </a:t>
            </a:r>
            <a:r>
              <a:rPr lang="zh-TW" altLang="en-US" dirty="0"/>
              <a:t>參數優化：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目標函數 </a:t>
            </a:r>
            <a:r>
              <a:rPr lang="en-US" altLang="zh-TW" sz="1800" b="1" dirty="0"/>
              <a:t>(Objective)</a:t>
            </a:r>
            <a:r>
              <a:rPr lang="zh-TW" altLang="en-US" sz="1800" dirty="0"/>
              <a:t>：</a:t>
            </a:r>
            <a:r>
              <a:rPr lang="en-US" altLang="zh-TW" sz="1800" dirty="0" err="1"/>
              <a:t>reg:squarederror</a:t>
            </a:r>
            <a:r>
              <a:rPr lang="zh-TW" altLang="en-US" sz="1800" dirty="0"/>
              <a:t>（針對股價數值預測）。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特徵選擇 </a:t>
            </a:r>
            <a:r>
              <a:rPr lang="en-US" altLang="zh-TW" sz="1800" b="1" dirty="0"/>
              <a:t>(Feature Selection)</a:t>
            </a:r>
            <a:r>
              <a:rPr lang="zh-TW" altLang="en-US" sz="1800" dirty="0"/>
              <a:t>：</a:t>
            </a:r>
            <a:endParaRPr lang="en-US" altLang="zh-TW" sz="1800" dirty="0"/>
          </a:p>
          <a:p>
            <a:pPr lvl="2">
              <a:buFont typeface="Wingdings" panose="05000000000000000000" pitchFamily="2" charset="2"/>
              <a:buChar char="u"/>
            </a:pPr>
            <a:r>
              <a:rPr lang="zh-TW" altLang="en-US" sz="1600" dirty="0"/>
              <a:t>使用 </a:t>
            </a:r>
            <a:r>
              <a:rPr lang="en-US" altLang="zh-TW" sz="1600" b="1" dirty="0"/>
              <a:t>Gain (</a:t>
            </a:r>
            <a:r>
              <a:rPr lang="zh-TW" altLang="en-US" sz="1600" b="1" dirty="0"/>
              <a:t>增益</a:t>
            </a:r>
            <a:r>
              <a:rPr lang="en-US" altLang="zh-TW" sz="1600" b="1" dirty="0"/>
              <a:t>)</a:t>
            </a:r>
            <a:r>
              <a:rPr lang="zh-TW" altLang="en-US" sz="1600" dirty="0"/>
              <a:t> 評估台指期與供應鏈指標的貢獻度。</a:t>
            </a:r>
            <a:endParaRPr lang="en-US" altLang="zh-TW" sz="16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防止過擬合：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早停機制 </a:t>
            </a:r>
            <a:r>
              <a:rPr lang="en-US" altLang="zh-TW" sz="1800" b="1" dirty="0"/>
              <a:t>(Early Stopping)</a:t>
            </a:r>
            <a:r>
              <a:rPr lang="zh-TW" altLang="en-US" sz="1800" dirty="0"/>
              <a:t>：防止模型過度擬合歷史數據中的雜訊。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3A637005-570C-87B5-12EF-FEF53CFFE5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54173" y="2438700"/>
            <a:ext cx="4971914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6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2F4C8ECE-CE8C-60FD-5A87-D82D204191D0}"/>
              </a:ext>
            </a:extLst>
          </p:cNvPr>
          <p:cNvSpPr/>
          <p:nvPr/>
        </p:nvSpPr>
        <p:spPr>
          <a:xfrm>
            <a:off x="8400435" y="896565"/>
            <a:ext cx="3094776" cy="326593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16145620-1034-636A-79F9-CB6409760E82}"/>
              </a:ext>
            </a:extLst>
          </p:cNvPr>
          <p:cNvSpPr/>
          <p:nvPr/>
        </p:nvSpPr>
        <p:spPr>
          <a:xfrm>
            <a:off x="4460260" y="891697"/>
            <a:ext cx="3094776" cy="3265936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F8C8AED5-7F7A-063F-5FEA-EE2C20A47046}"/>
              </a:ext>
            </a:extLst>
          </p:cNvPr>
          <p:cNvSpPr/>
          <p:nvPr/>
        </p:nvSpPr>
        <p:spPr>
          <a:xfrm>
            <a:off x="528974" y="891697"/>
            <a:ext cx="3094776" cy="326593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ACD043-98D0-87EE-56E1-76E2009D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81" y="92444"/>
            <a:ext cx="10131425" cy="999067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雙軌決策系統與動態風險過濾 </a:t>
            </a:r>
            <a:r>
              <a:rPr lang="en-US" altLang="zh-TW" sz="2400" dirty="0"/>
              <a:t>(Dual-Track Decision System)</a:t>
            </a:r>
            <a:endParaRPr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06F829-006E-87C7-5F0F-00FEF91C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4" y="5174995"/>
            <a:ext cx="11639231" cy="1458047"/>
          </a:xfrm>
        </p:spPr>
        <p:txBody>
          <a:bodyPr>
            <a:normAutofit/>
          </a:bodyPr>
          <a:lstStyle/>
          <a:p>
            <a:r>
              <a:rPr lang="en-US" altLang="zh-TW" b="1" dirty="0"/>
              <a:t>ATR</a:t>
            </a:r>
            <a:r>
              <a:rPr lang="zh-TW" altLang="en-US" b="1" dirty="0"/>
              <a:t>動態停損</a:t>
            </a:r>
            <a:r>
              <a:rPr lang="zh-TW" altLang="en-US" dirty="0"/>
              <a:t>：利用台指期的平均真實波幅 </a:t>
            </a:r>
            <a:r>
              <a:rPr lang="en-US" altLang="zh-TW" dirty="0"/>
              <a:t>(ATR) </a:t>
            </a:r>
            <a:r>
              <a:rPr lang="zh-TW" altLang="en-US" dirty="0"/>
              <a:t>設定停損點，而非固定的百分比，更適應市場波動。</a:t>
            </a:r>
            <a:endParaRPr lang="en-US" altLang="zh-TW" dirty="0"/>
          </a:p>
          <a:p>
            <a:r>
              <a:rPr lang="zh-TW" altLang="en-US" b="1" dirty="0"/>
              <a:t>季底流動性防護與預防黑天鵝事件</a:t>
            </a:r>
            <a:r>
              <a:rPr lang="zh-TW" altLang="en-US" dirty="0"/>
              <a:t>：設定「單日最大虧損限制 </a:t>
            </a:r>
            <a:r>
              <a:rPr lang="en-US" altLang="zh-TW" dirty="0"/>
              <a:t>(Daily Stop)</a:t>
            </a:r>
            <a:r>
              <a:rPr lang="zh-TW" altLang="en-US" dirty="0"/>
              <a:t>」。</a:t>
            </a:r>
            <a:endParaRPr lang="en-US" altLang="zh-TW" dirty="0"/>
          </a:p>
          <a:p>
            <a:r>
              <a:rPr lang="zh-TW" altLang="en-US" b="1" dirty="0"/>
              <a:t>標的特性優化</a:t>
            </a:r>
            <a:r>
              <a:rPr lang="zh-TW" altLang="en-US" dirty="0"/>
              <a:t>：考量台積電權值重的特性，加入「價量背離濾網」，減少假突破的誘多風險。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1A033F9-892A-B068-82F5-3F4B0561090A}"/>
              </a:ext>
            </a:extLst>
          </p:cNvPr>
          <p:cNvSpPr/>
          <p:nvPr/>
        </p:nvSpPr>
        <p:spPr>
          <a:xfrm>
            <a:off x="648354" y="1157973"/>
            <a:ext cx="2876555" cy="9942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台積電 </a:t>
            </a:r>
            <a:r>
              <a:rPr lang="en-US" altLang="zh-TW" dirty="0"/>
              <a:t>(2330) &gt; MA20 </a:t>
            </a:r>
          </a:p>
          <a:p>
            <a:pPr algn="ctr"/>
            <a:r>
              <a:rPr lang="zh-TW" altLang="en-US" dirty="0"/>
              <a:t>且 台指期動能向上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F48E05B-F33D-CF72-29EB-E921C7AC703F}"/>
              </a:ext>
            </a:extLst>
          </p:cNvPr>
          <p:cNvSpPr/>
          <p:nvPr/>
        </p:nvSpPr>
        <p:spPr>
          <a:xfrm>
            <a:off x="1110635" y="2956294"/>
            <a:ext cx="1944154" cy="99427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若不符合：</a:t>
            </a:r>
            <a:endParaRPr lang="en-US" altLang="zh-TW" dirty="0"/>
          </a:p>
          <a:p>
            <a:pPr algn="ctr"/>
            <a:r>
              <a:rPr lang="zh-TW" altLang="en-US" dirty="0"/>
              <a:t>維持空倉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4DD49E5-2AE6-450A-0823-A5EB3091F14C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2082712" y="2152247"/>
            <a:ext cx="3920" cy="80404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40C4BA-1789-0E9F-04AE-821D185076F6}"/>
              </a:ext>
            </a:extLst>
          </p:cNvPr>
          <p:cNvSpPr/>
          <p:nvPr/>
        </p:nvSpPr>
        <p:spPr>
          <a:xfrm>
            <a:off x="4981595" y="1107174"/>
            <a:ext cx="2182214" cy="744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AI </a:t>
            </a:r>
            <a:r>
              <a:rPr lang="zh-TW" altLang="en-US"/>
              <a:t>預測：熱度高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092AE2D-604F-7362-2172-1E7895B2DB40}"/>
              </a:ext>
            </a:extLst>
          </p:cNvPr>
          <p:cNvSpPr/>
          <p:nvPr/>
        </p:nvSpPr>
        <p:spPr>
          <a:xfrm>
            <a:off x="4981595" y="2158311"/>
            <a:ext cx="2182214" cy="74486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 </a:t>
            </a:r>
            <a:r>
              <a:rPr lang="zh-TW" altLang="en-US" dirty="0"/>
              <a:t>預測：熱度中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FD43199-39DD-25AE-E872-ACF80AE89A83}"/>
              </a:ext>
            </a:extLst>
          </p:cNvPr>
          <p:cNvSpPr/>
          <p:nvPr/>
        </p:nvSpPr>
        <p:spPr>
          <a:xfrm>
            <a:off x="4981595" y="3222571"/>
            <a:ext cx="2182214" cy="74486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 </a:t>
            </a:r>
            <a:r>
              <a:rPr lang="zh-TW" altLang="en-US" dirty="0"/>
              <a:t>預測：熱度低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083BE1F-FF4A-5E27-22EC-FC0F87D9A806}"/>
              </a:ext>
            </a:extLst>
          </p:cNvPr>
          <p:cNvSpPr/>
          <p:nvPr/>
        </p:nvSpPr>
        <p:spPr>
          <a:xfrm>
            <a:off x="8846521" y="2158311"/>
            <a:ext cx="2223752" cy="74486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投入 </a:t>
            </a:r>
            <a:r>
              <a:rPr lang="en-US" altLang="zh-TW" dirty="0"/>
              <a:t>50% </a:t>
            </a:r>
            <a:r>
              <a:rPr lang="zh-TW" altLang="en-US" dirty="0"/>
              <a:t>部位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65573BD-433E-AA43-7413-6279341ED4D4}"/>
              </a:ext>
            </a:extLst>
          </p:cNvPr>
          <p:cNvSpPr/>
          <p:nvPr/>
        </p:nvSpPr>
        <p:spPr>
          <a:xfrm>
            <a:off x="8846522" y="1091511"/>
            <a:ext cx="2223752" cy="768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投入 </a:t>
            </a:r>
            <a:r>
              <a:rPr lang="en-US" altLang="zh-TW" dirty="0"/>
              <a:t>100% </a:t>
            </a:r>
            <a:r>
              <a:rPr lang="zh-TW" altLang="en-US" dirty="0"/>
              <a:t>部位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0EDE93B-F66A-A66B-8226-C7920B2B25A4}"/>
              </a:ext>
            </a:extLst>
          </p:cNvPr>
          <p:cNvSpPr/>
          <p:nvPr/>
        </p:nvSpPr>
        <p:spPr>
          <a:xfrm>
            <a:off x="8846522" y="3222570"/>
            <a:ext cx="2223752" cy="7488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投入 </a:t>
            </a:r>
            <a:r>
              <a:rPr lang="en-US" altLang="zh-TW" dirty="0"/>
              <a:t>30% </a:t>
            </a:r>
            <a:r>
              <a:rPr lang="zh-TW" altLang="en-US" dirty="0"/>
              <a:t>部位</a:t>
            </a: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34933C3-B26B-50A9-0032-B982B8F8D925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3524909" y="1479605"/>
            <a:ext cx="1456686" cy="1755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292D71E8-6765-BF3B-2454-50FA406FD41B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3524909" y="1655110"/>
            <a:ext cx="1456686" cy="87563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47A9680-4F7A-E029-DD03-F1C0E9BE02BD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3524909" y="1655110"/>
            <a:ext cx="1456686" cy="193989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1BB7626E-5816-FC6E-78A7-89155D33900C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7163809" y="1475633"/>
            <a:ext cx="1682713" cy="39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CAAFBF17-A451-EA1F-B52B-7A7B6D673222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7163809" y="2530742"/>
            <a:ext cx="168271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C9A9E163-2F47-2264-23A3-5AF66F08437D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7163809" y="3595002"/>
            <a:ext cx="1682713" cy="2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775198CF-5C97-38CE-EB30-90505204943B}"/>
              </a:ext>
            </a:extLst>
          </p:cNvPr>
          <p:cNvSpPr/>
          <p:nvPr/>
        </p:nvSpPr>
        <p:spPr>
          <a:xfrm>
            <a:off x="528974" y="4244707"/>
            <a:ext cx="3086098" cy="79057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第一層：大盤趨勢過濾</a:t>
            </a: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C17EDDB3-9C69-A9B6-47CD-8286DB521395}"/>
              </a:ext>
            </a:extLst>
          </p:cNvPr>
          <p:cNvSpPr/>
          <p:nvPr/>
        </p:nvSpPr>
        <p:spPr>
          <a:xfrm>
            <a:off x="4460261" y="4240896"/>
            <a:ext cx="3086098" cy="79057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第二層：供應鏈 </a:t>
            </a:r>
            <a:r>
              <a:rPr lang="en-US" altLang="zh-TW" dirty="0"/>
              <a:t>Alpha </a:t>
            </a:r>
            <a:r>
              <a:rPr lang="zh-TW" altLang="en-US" dirty="0"/>
              <a:t>加權</a:t>
            </a: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1B3280CA-E5A7-4714-6522-FFC710C4F35D}"/>
              </a:ext>
            </a:extLst>
          </p:cNvPr>
          <p:cNvSpPr/>
          <p:nvPr/>
        </p:nvSpPr>
        <p:spPr>
          <a:xfrm>
            <a:off x="8400436" y="4244707"/>
            <a:ext cx="3086098" cy="790575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第三層：執行指令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</a:p>
          <a:p>
            <a:pPr algn="ctr"/>
            <a:r>
              <a:rPr lang="zh-TW" altLang="en-US" dirty="0">
                <a:sym typeface="Wingdings" panose="05000000000000000000" pitchFamily="2" charset="2"/>
              </a:rPr>
              <a:t>買入、賣出、觀望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07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91B6A2-82D6-18E0-E3A8-A3BED104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42" y="274787"/>
            <a:ext cx="10352313" cy="1012723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半導體生產要素傳導：矽、水、電之實體驗證</a:t>
            </a:r>
          </a:p>
        </p:txBody>
      </p:sp>
      <p:sp>
        <p:nvSpPr>
          <p:cNvPr id="18" name="文字版面配置區 3">
            <a:extLst>
              <a:ext uri="{FF2B5EF4-FFF2-40B4-BE49-F238E27FC236}">
                <a16:creationId xmlns:a16="http://schemas.microsoft.com/office/drawing/2014/main" id="{FE030A14-90FF-09D2-04D8-024D167A1B11}"/>
              </a:ext>
            </a:extLst>
          </p:cNvPr>
          <p:cNvSpPr txBox="1">
            <a:spLocks/>
          </p:cNvSpPr>
          <p:nvPr/>
        </p:nvSpPr>
        <p:spPr>
          <a:xfrm>
            <a:off x="224923" y="4123976"/>
            <a:ext cx="11459075" cy="23568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b="1" dirty="0"/>
              <a:t>為何「非線性」才是真相？</a:t>
            </a:r>
            <a:endParaRPr lang="en-US" altLang="zh-TW" sz="2000" b="1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/>
              <a:t>環球晶 </a:t>
            </a:r>
            <a:r>
              <a:rPr lang="en-US" altLang="zh-TW" b="1" dirty="0"/>
              <a:t>(6488) </a:t>
            </a:r>
            <a:r>
              <a:rPr lang="zh-TW" altLang="en-US" b="1" dirty="0"/>
              <a:t>的領先性</a:t>
            </a:r>
            <a:r>
              <a:rPr lang="zh-TW" altLang="en-US" dirty="0"/>
              <a:t>：矽晶圓合約多為長約 </a:t>
            </a:r>
            <a:r>
              <a:rPr lang="en-US" altLang="zh-TW" dirty="0"/>
              <a:t>(LTA)</a:t>
            </a:r>
            <a:r>
              <a:rPr lang="zh-TW" altLang="en-US" dirty="0"/>
              <a:t>，其股價異動往往反映法人對半年後產能利用率的提前定價，而非與台積電同步漲跌。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/>
              <a:t>台達電 </a:t>
            </a:r>
            <a:r>
              <a:rPr lang="en-US" altLang="zh-TW" b="1" dirty="0"/>
              <a:t>(2308) </a:t>
            </a:r>
            <a:r>
              <a:rPr lang="zh-TW" altLang="en-US" b="1" dirty="0"/>
              <a:t>的門檻效應</a:t>
            </a:r>
            <a:r>
              <a:rPr lang="zh-TW" altLang="en-US" dirty="0"/>
              <a:t>：電力成本對台積電是「固定支出」，只有當能源政策改變或電價大幅調漲時，兩者的連動才會瞬間爆發。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/>
              <a:t>兆聯 </a:t>
            </a:r>
            <a:r>
              <a:rPr lang="en-US" altLang="zh-TW" b="1" dirty="0"/>
              <a:t>(6944) </a:t>
            </a:r>
            <a:r>
              <a:rPr lang="zh-TW" altLang="en-US" b="1" dirty="0"/>
              <a:t>的動能滯後</a:t>
            </a:r>
            <a:r>
              <a:rPr lang="zh-TW" altLang="en-US" dirty="0"/>
              <a:t>：建廠工程入帳與股價反映，通常與台積電的資本支出 </a:t>
            </a:r>
            <a:r>
              <a:rPr lang="en-US" altLang="zh-TW" dirty="0"/>
              <a:t>(CAPEX) </a:t>
            </a:r>
            <a:r>
              <a:rPr lang="zh-TW" altLang="en-US" dirty="0"/>
              <a:t>循環呈現反向或錯位關係。</a:t>
            </a:r>
            <a:endParaRPr lang="en-US" altLang="zh-TW" dirty="0"/>
          </a:p>
        </p:txBody>
      </p:sp>
      <p:sp>
        <p:nvSpPr>
          <p:cNvPr id="3" name="梯形 2">
            <a:extLst>
              <a:ext uri="{FF2B5EF4-FFF2-40B4-BE49-F238E27FC236}">
                <a16:creationId xmlns:a16="http://schemas.microsoft.com/office/drawing/2014/main" id="{2356FDE3-A4B7-BF2B-B1F2-06D87AFB1902}"/>
              </a:ext>
            </a:extLst>
          </p:cNvPr>
          <p:cNvSpPr/>
          <p:nvPr/>
        </p:nvSpPr>
        <p:spPr>
          <a:xfrm rot="10800000">
            <a:off x="1267454" y="3309778"/>
            <a:ext cx="2296160" cy="571770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550D90A0-EC7E-8785-4B9F-180315CD9722}"/>
              </a:ext>
            </a:extLst>
          </p:cNvPr>
          <p:cNvSpPr/>
          <p:nvPr/>
        </p:nvSpPr>
        <p:spPr>
          <a:xfrm rot="10800000">
            <a:off x="1127756" y="2593391"/>
            <a:ext cx="2575559" cy="571770"/>
          </a:xfrm>
          <a:prstGeom prst="trapezoi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17A4CB60-ECB2-3797-9B3D-DA999DAED293}"/>
              </a:ext>
            </a:extLst>
          </p:cNvPr>
          <p:cNvSpPr/>
          <p:nvPr/>
        </p:nvSpPr>
        <p:spPr>
          <a:xfrm rot="10800000">
            <a:off x="980439" y="1877004"/>
            <a:ext cx="2870199" cy="571770"/>
          </a:xfrm>
          <a:prstGeom prst="trapezoi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梯形 5">
            <a:extLst>
              <a:ext uri="{FF2B5EF4-FFF2-40B4-BE49-F238E27FC236}">
                <a16:creationId xmlns:a16="http://schemas.microsoft.com/office/drawing/2014/main" id="{642D1266-0ECB-59AE-C25F-767B2ADF78A8}"/>
              </a:ext>
            </a:extLst>
          </p:cNvPr>
          <p:cNvSpPr/>
          <p:nvPr/>
        </p:nvSpPr>
        <p:spPr>
          <a:xfrm rot="10800000">
            <a:off x="838199" y="1160617"/>
            <a:ext cx="3154680" cy="57177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30B95A-9769-2109-2645-B2FF1A45D3AF}"/>
              </a:ext>
            </a:extLst>
          </p:cNvPr>
          <p:cNvSpPr/>
          <p:nvPr/>
        </p:nvSpPr>
        <p:spPr>
          <a:xfrm>
            <a:off x="58590" y="1261836"/>
            <a:ext cx="471388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dirty="0"/>
              <a:t>環球晶 </a:t>
            </a:r>
            <a:r>
              <a:rPr lang="en-US" altLang="zh-TW" dirty="0"/>
              <a:t>(</a:t>
            </a:r>
            <a:r>
              <a:rPr lang="zh-TW" altLang="en-US" dirty="0"/>
              <a:t>矽晶圓</a:t>
            </a:r>
            <a:r>
              <a:rPr lang="en-US" altLang="zh-TW" dirty="0"/>
              <a:t>)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146379-983A-C89D-3965-3F8BA1EAB6D9}"/>
              </a:ext>
            </a:extLst>
          </p:cNvPr>
          <p:cNvSpPr/>
          <p:nvPr/>
        </p:nvSpPr>
        <p:spPr>
          <a:xfrm>
            <a:off x="58590" y="1978223"/>
            <a:ext cx="471388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dirty="0"/>
              <a:t>台達電 </a:t>
            </a:r>
            <a:r>
              <a:rPr lang="en-US" altLang="zh-TW" dirty="0"/>
              <a:t>(</a:t>
            </a:r>
            <a:r>
              <a:rPr lang="zh-TW" altLang="en-US" dirty="0"/>
              <a:t>能源管理</a:t>
            </a:r>
            <a:r>
              <a:rPr lang="en-US" altLang="zh-TW" dirty="0"/>
              <a:t>)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AD3085-058B-E647-6D61-8E74C1C38106}"/>
              </a:ext>
            </a:extLst>
          </p:cNvPr>
          <p:cNvSpPr/>
          <p:nvPr/>
        </p:nvSpPr>
        <p:spPr>
          <a:xfrm>
            <a:off x="58590" y="2693474"/>
            <a:ext cx="471388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dirty="0"/>
              <a:t>兆聯 </a:t>
            </a:r>
            <a:r>
              <a:rPr lang="en-US" altLang="zh-TW" dirty="0"/>
              <a:t>(</a:t>
            </a:r>
            <a:r>
              <a:rPr lang="zh-TW" altLang="en-US" dirty="0"/>
              <a:t>水資源工程</a:t>
            </a:r>
            <a:r>
              <a:rPr lang="en-US" altLang="zh-TW" dirty="0"/>
              <a:t>)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7A2279-D538-883A-E4B2-95C8E3E20F47}"/>
              </a:ext>
            </a:extLst>
          </p:cNvPr>
          <p:cNvSpPr/>
          <p:nvPr/>
        </p:nvSpPr>
        <p:spPr>
          <a:xfrm>
            <a:off x="0" y="3408725"/>
            <a:ext cx="471388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dirty="0"/>
              <a:t>最終產出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CA04B9B-1407-9504-CCDD-76ED94418AE6}"/>
              </a:ext>
            </a:extLst>
          </p:cNvPr>
          <p:cNvSpPr/>
          <p:nvPr/>
        </p:nvSpPr>
        <p:spPr>
          <a:xfrm>
            <a:off x="5143684" y="1160616"/>
            <a:ext cx="6540315" cy="571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/>
              <a:t>投入端</a:t>
            </a:r>
            <a:r>
              <a:rPr lang="zh-TW" altLang="en-US" dirty="0"/>
              <a:t>：反映全球晶圓投片量的前瞻預期。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9197BE6-D9A9-C9A4-FED4-892BFEC53AE9}"/>
              </a:ext>
            </a:extLst>
          </p:cNvPr>
          <p:cNvSpPr/>
          <p:nvPr/>
        </p:nvSpPr>
        <p:spPr>
          <a:xfrm>
            <a:off x="5143684" y="1877003"/>
            <a:ext cx="6540315" cy="5717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/>
              <a:t>營運端</a:t>
            </a:r>
            <a:r>
              <a:rPr lang="zh-TW" altLang="en-US"/>
              <a:t>：反映高階製程機台（如 </a:t>
            </a:r>
            <a:r>
              <a:rPr lang="en-US" altLang="zh-TW"/>
              <a:t>EUV</a:t>
            </a:r>
            <a:r>
              <a:rPr lang="zh-TW" altLang="en-US"/>
              <a:t>）的能耗壓力與建置進度。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CD4B3-6326-618F-A93D-82BEAE01D518}"/>
              </a:ext>
            </a:extLst>
          </p:cNvPr>
          <p:cNvSpPr/>
          <p:nvPr/>
        </p:nvSpPr>
        <p:spPr>
          <a:xfrm>
            <a:off x="5143684" y="2593391"/>
            <a:ext cx="6540315" cy="5717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/>
              <a:t>環境端</a:t>
            </a:r>
            <a:r>
              <a:rPr lang="zh-TW" altLang="en-US"/>
              <a:t>：反映擴廠基礎設施的完工與資源可用性上限。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311A6B0-0E07-1346-609B-E545DF9FFA73}"/>
              </a:ext>
            </a:extLst>
          </p:cNvPr>
          <p:cNvSpPr/>
          <p:nvPr/>
        </p:nvSpPr>
        <p:spPr>
          <a:xfrm>
            <a:off x="5143684" y="3309777"/>
            <a:ext cx="6540315" cy="5717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/>
              <a:t>台積電股價</a:t>
            </a:r>
            <a:r>
              <a:rPr lang="zh-TW" altLang="en-US"/>
              <a:t>。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01E45D6-CCBA-7030-5560-231B0E92A4AA}"/>
              </a:ext>
            </a:extLst>
          </p:cNvPr>
          <p:cNvCxnSpPr>
            <a:cxnSpLocks/>
            <a:stCxn id="6" idx="1"/>
            <a:endCxn id="14" idx="1"/>
          </p:cNvCxnSpPr>
          <p:nvPr/>
        </p:nvCxnSpPr>
        <p:spPr>
          <a:xfrm>
            <a:off x="3921408" y="1446502"/>
            <a:ext cx="1222276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6465DC4F-973B-9AEF-36D1-AAD48315DEC8}"/>
              </a:ext>
            </a:extLst>
          </p:cNvPr>
          <p:cNvCxnSpPr>
            <a:cxnSpLocks/>
            <a:stCxn id="5" idx="1"/>
            <a:endCxn id="16" idx="1"/>
          </p:cNvCxnSpPr>
          <p:nvPr/>
        </p:nvCxnSpPr>
        <p:spPr>
          <a:xfrm>
            <a:off x="3779167" y="2162889"/>
            <a:ext cx="1364517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A9CAC449-1FCE-581A-DFF3-0CE1F0994182}"/>
              </a:ext>
            </a:extLst>
          </p:cNvPr>
          <p:cNvCxnSpPr>
            <a:cxnSpLocks/>
            <a:stCxn id="4" idx="1"/>
            <a:endCxn id="17" idx="1"/>
          </p:cNvCxnSpPr>
          <p:nvPr/>
        </p:nvCxnSpPr>
        <p:spPr>
          <a:xfrm>
            <a:off x="3631844" y="2879276"/>
            <a:ext cx="1511840" cy="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4D35812-FA13-1297-7D5F-7AC243FA62CB}"/>
              </a:ext>
            </a:extLst>
          </p:cNvPr>
          <p:cNvCxnSpPr>
            <a:cxnSpLocks/>
            <a:stCxn id="3" idx="1"/>
            <a:endCxn id="19" idx="1"/>
          </p:cNvCxnSpPr>
          <p:nvPr/>
        </p:nvCxnSpPr>
        <p:spPr>
          <a:xfrm>
            <a:off x="3492143" y="3595663"/>
            <a:ext cx="165154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67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6CFB52-5934-EE88-5549-C0FF734A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31" y="63050"/>
            <a:ext cx="8875295" cy="657725"/>
          </a:xfrm>
        </p:spPr>
        <p:txBody>
          <a:bodyPr/>
          <a:lstStyle/>
          <a:p>
            <a:r>
              <a:rPr lang="zh-TW" altLang="en-US" dirty="0"/>
              <a:t>績效量化評估：供應鏈 </a:t>
            </a:r>
            <a:r>
              <a:rPr lang="en-US" altLang="zh-TW" dirty="0"/>
              <a:t>Alpha </a:t>
            </a:r>
            <a:r>
              <a:rPr lang="zh-TW" altLang="en-US" dirty="0"/>
              <a:t>與市場 </a:t>
            </a:r>
            <a:r>
              <a:rPr lang="en-US" altLang="zh-TW" dirty="0"/>
              <a:t>Beta </a:t>
            </a:r>
            <a:r>
              <a:rPr lang="zh-TW" altLang="en-US" dirty="0"/>
              <a:t>的融合成果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BF06784-20CD-BA44-020A-F0EA702EF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611" y="787254"/>
            <a:ext cx="5756909" cy="431858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實戰回測數據 </a:t>
            </a:r>
            <a:r>
              <a:rPr lang="en-US" altLang="zh-TW" sz="2000" dirty="0"/>
              <a:t>(Ensemble Strategy Performance)</a:t>
            </a:r>
            <a:endParaRPr lang="zh-TW" altLang="en-US" sz="20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C0C5846-893E-54A2-5B44-EB8E9CCC9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327186"/>
              </p:ext>
            </p:extLst>
          </p:nvPr>
        </p:nvGraphicFramePr>
        <p:xfrm>
          <a:off x="597201" y="1219112"/>
          <a:ext cx="5687728" cy="2196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299">
                  <a:extLst>
                    <a:ext uri="{9D8B030D-6E8A-4147-A177-3AD203B41FA5}">
                      <a16:colId xmlns:a16="http://schemas.microsoft.com/office/drawing/2014/main" val="2040851988"/>
                    </a:ext>
                  </a:extLst>
                </a:gridCol>
                <a:gridCol w="2713371">
                  <a:extLst>
                    <a:ext uri="{9D8B030D-6E8A-4147-A177-3AD203B41FA5}">
                      <a16:colId xmlns:a16="http://schemas.microsoft.com/office/drawing/2014/main" val="3181029692"/>
                    </a:ext>
                  </a:extLst>
                </a:gridCol>
                <a:gridCol w="1588058">
                  <a:extLst>
                    <a:ext uri="{9D8B030D-6E8A-4147-A177-3AD203B41FA5}">
                      <a16:colId xmlns:a16="http://schemas.microsoft.com/office/drawing/2014/main" val="1939697233"/>
                    </a:ext>
                  </a:extLst>
                </a:gridCol>
              </a:tblGrid>
              <a:tr h="3385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核心指標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AI </a:t>
                      </a:r>
                      <a:r>
                        <a:rPr lang="zh-TW" altLang="en-US" sz="1800" dirty="0"/>
                        <a:t>供應鏈策略 </a:t>
                      </a:r>
                      <a:r>
                        <a:rPr lang="en-US" altLang="zh-TW" sz="1800" dirty="0"/>
                        <a:t>(</a:t>
                      </a:r>
                      <a:r>
                        <a:rPr lang="en-US" altLang="zh-TW" sz="1800" dirty="0" err="1"/>
                        <a:t>XGBoost</a:t>
                      </a:r>
                      <a:r>
                        <a:rPr lang="en-US" altLang="zh-TW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台指大盤基準</a:t>
                      </a:r>
                      <a:endParaRPr lang="en-US" altLang="zh-TW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271978"/>
                  </a:ext>
                </a:extLst>
              </a:tr>
              <a:tr h="36786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累積報酬率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11.67%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16.10%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50165"/>
                  </a:ext>
                </a:extLst>
              </a:tr>
              <a:tr h="3260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最大回撤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-2.40%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-9.33%</a:t>
                      </a:r>
                      <a:endParaRPr lang="zh-TW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267609"/>
                  </a:ext>
                </a:extLst>
              </a:tr>
              <a:tr h="3344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夏普比率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2.10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1.82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243161"/>
                  </a:ext>
                </a:extLst>
              </a:tr>
              <a:tr h="3093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獲利因子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1.81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65090"/>
                  </a:ext>
                </a:extLst>
              </a:tr>
              <a:tr h="3176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波動率</a:t>
                      </a:r>
                      <a:endParaRPr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/>
                        <a:t>14.28%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23.43%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274578"/>
                  </a:ext>
                </a:extLst>
              </a:tr>
            </a:tbl>
          </a:graphicData>
        </a:graphic>
      </p:graphicFrame>
      <p:sp>
        <p:nvSpPr>
          <p:cNvPr id="7" name="矩形: 圓角 6">
            <a:extLst>
              <a:ext uri="{FF2B5EF4-FFF2-40B4-BE49-F238E27FC236}">
                <a16:creationId xmlns:a16="http://schemas.microsoft.com/office/drawing/2014/main" id="{17317485-25D6-7083-36C8-2547F413CD7B}"/>
              </a:ext>
            </a:extLst>
          </p:cNvPr>
          <p:cNvSpPr/>
          <p:nvPr/>
        </p:nvSpPr>
        <p:spPr>
          <a:xfrm>
            <a:off x="101600" y="3912417"/>
            <a:ext cx="11938000" cy="277233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000" b="1" dirty="0"/>
              <a:t>Beta</a:t>
            </a:r>
            <a:r>
              <a:rPr lang="zh-TW" altLang="en-US" sz="2000" b="1" dirty="0"/>
              <a:t>穩定性：</a:t>
            </a:r>
            <a:endParaRPr lang="en-US" altLang="zh-TW" sz="2000" b="1" dirty="0"/>
          </a:p>
          <a:p>
            <a:r>
              <a:rPr lang="en-US" altLang="zh-TW" b="1" dirty="0"/>
              <a:t>	</a:t>
            </a:r>
            <a:r>
              <a:rPr lang="zh-TW" altLang="en-US" b="1" dirty="0"/>
              <a:t>低市場連動：</a:t>
            </a:r>
            <a:r>
              <a:rPr lang="zh-TW" altLang="en-US" dirty="0"/>
              <a:t> 策略曲線與大盤基準走勢相關性低，在大盤震盪下行期間，淨值仍能逆勢穩步增長。</a:t>
            </a:r>
            <a:endParaRPr lang="en-US" altLang="zh-TW" dirty="0"/>
          </a:p>
          <a:p>
            <a:r>
              <a:rPr lang="en-US" altLang="zh-TW" b="1" dirty="0"/>
              <a:t>	</a:t>
            </a:r>
            <a:r>
              <a:rPr lang="zh-TW" altLang="en-US" b="1" dirty="0"/>
              <a:t>風險隔絕能力：</a:t>
            </a:r>
            <a:r>
              <a:rPr lang="zh-TW" altLang="en-US" dirty="0"/>
              <a:t> 透過領先訊號及時減倉，成功避開大盤回撤，顯示 </a:t>
            </a:r>
            <a:r>
              <a:rPr lang="en-US" altLang="zh-TW" b="1" dirty="0"/>
              <a:t>Beta </a:t>
            </a:r>
            <a:r>
              <a:rPr lang="zh-TW" altLang="en-US" b="1" dirty="0"/>
              <a:t>係數穩定且具備極佳的防禦韌性</a:t>
            </a:r>
            <a:r>
              <a:rPr lang="zh-TW" altLang="en-US" dirty="0"/>
              <a:t>。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sz="2000" b="1" dirty="0"/>
              <a:t>Alpha</a:t>
            </a:r>
            <a:r>
              <a:rPr lang="zh-TW" altLang="en-US" sz="2000" b="1" dirty="0"/>
              <a:t>貢獻度：</a:t>
            </a:r>
            <a:endParaRPr lang="en-US" altLang="zh-TW" sz="2000" b="1" dirty="0"/>
          </a:p>
          <a:p>
            <a:pPr lvl="1"/>
            <a:r>
              <a:rPr lang="zh-TW" altLang="en-US" b="1" dirty="0"/>
              <a:t>穩健超額報酬：</a:t>
            </a:r>
            <a:r>
              <a:rPr lang="zh-TW" altLang="en-US" dirty="0"/>
              <a:t> 在扣除摩擦成本後，策略淨值（約 </a:t>
            </a:r>
            <a:r>
              <a:rPr lang="en-US" altLang="zh-TW" dirty="0"/>
              <a:t>1.12</a:t>
            </a:r>
            <a:r>
              <a:rPr lang="zh-TW" altLang="en-US" dirty="0"/>
              <a:t>），顯示 </a:t>
            </a:r>
            <a:r>
              <a:rPr lang="en-US" altLang="zh-TW" b="1" dirty="0"/>
              <a:t>AI </a:t>
            </a:r>
            <a:r>
              <a:rPr lang="zh-TW" altLang="en-US" b="1" dirty="0"/>
              <a:t>供應鏈整合邏輯</a:t>
            </a:r>
            <a:r>
              <a:rPr lang="zh-TW" altLang="en-US" dirty="0"/>
              <a:t>具備強大的實戰獲利能力。</a:t>
            </a:r>
            <a:endParaRPr lang="en-US" altLang="zh-TW" dirty="0"/>
          </a:p>
          <a:p>
            <a:pPr lvl="1"/>
            <a:r>
              <a:rPr lang="zh-TW" altLang="en-US" b="1" dirty="0"/>
              <a:t>主動避險效益：</a:t>
            </a:r>
            <a:r>
              <a:rPr lang="zh-TW" altLang="en-US" dirty="0"/>
              <a:t> 透過供應鏈指標進行動態調倉，捕捉大盤波動外純粹 </a:t>
            </a:r>
            <a:r>
              <a:rPr lang="en-US" altLang="zh-TW" b="1" dirty="0"/>
              <a:t>Alpha </a:t>
            </a:r>
            <a:r>
              <a:rPr lang="zh-TW" altLang="en-US" b="1" dirty="0"/>
              <a:t>收益</a:t>
            </a:r>
            <a:r>
              <a:rPr lang="zh-TW" altLang="en-US" dirty="0"/>
              <a:t>，使績效曲線維持平滑向上。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TW" altLang="en-US" sz="2000" b="1" dirty="0"/>
              <a:t>交易成本模擬： </a:t>
            </a:r>
            <a:r>
              <a:rPr lang="zh-TW" altLang="en-US" dirty="0"/>
              <a:t>所有績效皆已扣除 </a:t>
            </a:r>
            <a:r>
              <a:rPr lang="en-US" altLang="zh-TW" dirty="0"/>
              <a:t>0.3% </a:t>
            </a:r>
            <a:r>
              <a:rPr lang="zh-TW" altLang="en-US" dirty="0"/>
              <a:t>的摩擦成本（滑價 </a:t>
            </a:r>
            <a:r>
              <a:rPr lang="en-US" altLang="zh-TW" dirty="0"/>
              <a:t>+ </a:t>
            </a:r>
            <a:r>
              <a:rPr lang="zh-TW" altLang="en-US" dirty="0"/>
              <a:t>手續費），確保數據具備 </a:t>
            </a:r>
            <a:r>
              <a:rPr lang="en-US" altLang="zh-TW" dirty="0"/>
              <a:t>100% </a:t>
            </a:r>
            <a:r>
              <a:rPr lang="zh-TW" altLang="en-US" dirty="0"/>
              <a:t>的實戰參考價值。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4484F7C-3161-7C0A-EF43-742E7FCB5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110" y="720775"/>
            <a:ext cx="5352697" cy="30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81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32865-BAF3-899A-1D37-D0C9C376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04" y="137096"/>
            <a:ext cx="8854836" cy="1081548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模型可解釋性與 </a:t>
            </a:r>
            <a:r>
              <a:rPr lang="en-US" altLang="zh-TW" sz="2400" dirty="0"/>
              <a:t>XAI </a:t>
            </a:r>
            <a:r>
              <a:rPr lang="zh-TW" altLang="en-US" sz="2400" dirty="0"/>
              <a:t>深度歸因 </a:t>
            </a:r>
            <a:r>
              <a:rPr lang="en-US" altLang="zh-TW" sz="2400" dirty="0"/>
              <a:t>(XAI &amp; Feature Importance)</a:t>
            </a:r>
            <a:endParaRPr lang="zh-TW" altLang="en-US" sz="2400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8662CB8-109A-4323-DC95-C6379015E3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2950" y="1789063"/>
            <a:ext cx="4995863" cy="2935069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F03B8A60-6A58-AF6C-3802-7B8E86A13BC0}"/>
              </a:ext>
            </a:extLst>
          </p:cNvPr>
          <p:cNvSpPr txBox="1">
            <a:spLocks/>
          </p:cNvSpPr>
          <p:nvPr/>
        </p:nvSpPr>
        <p:spPr>
          <a:xfrm>
            <a:off x="560828" y="991200"/>
            <a:ext cx="6419092" cy="4373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 baseline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特徵貢獻深度解讀 </a:t>
            </a:r>
            <a:r>
              <a:rPr lang="en-US" altLang="zh-TW" dirty="0"/>
              <a:t>(XAI Insights) 	</a:t>
            </a:r>
          </a:p>
          <a:p>
            <a:pPr marL="457200" lvl="1" indent="0">
              <a:buNone/>
            </a:pPr>
            <a:r>
              <a:rPr lang="en-US" altLang="zh-TW" dirty="0"/>
              <a:t>—— </a:t>
            </a:r>
            <a:r>
              <a:rPr lang="zh-TW" altLang="en-US" b="1" dirty="0"/>
              <a:t>回應「相關性慘烈」：為什麼低相關才是真 </a:t>
            </a:r>
            <a:r>
              <a:rPr lang="en-US" altLang="zh-TW" b="1" dirty="0"/>
              <a:t>Alpha</a:t>
            </a:r>
            <a:r>
              <a:rPr lang="zh-TW" altLang="en-US" b="1" dirty="0"/>
              <a:t>？</a:t>
            </a:r>
            <a:endParaRPr lang="en-US" altLang="zh-TW" b="1" dirty="0"/>
          </a:p>
          <a:p>
            <a:pPr marL="800100" lvl="1" indent="-342900">
              <a:buAutoNum type="arabicPeriod"/>
            </a:pPr>
            <a:r>
              <a:rPr lang="en-US" altLang="zh-TW" b="1" dirty="0"/>
              <a:t>ADR </a:t>
            </a:r>
            <a:r>
              <a:rPr lang="zh-TW" altLang="en-US" b="1" dirty="0"/>
              <a:t>跨市場領先：獲利的預判力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捕捉</a:t>
            </a:r>
            <a:r>
              <a:rPr lang="zh-TW" altLang="en-US" b="1" dirty="0"/>
              <a:t>美股 </a:t>
            </a:r>
            <a:r>
              <a:rPr lang="en-US" altLang="zh-TW" b="1" dirty="0"/>
              <a:t>ADR </a:t>
            </a:r>
            <a:r>
              <a:rPr lang="zh-TW" altLang="en-US" b="1" dirty="0"/>
              <a:t>對台股的領先效應，</a:t>
            </a:r>
            <a:r>
              <a:rPr lang="zh-TW" altLang="en-US" dirty="0"/>
              <a:t>在當日線性相關性中看</a:t>
            </a:r>
            <a:r>
              <a:rPr lang="en-US" altLang="zh-TW" dirty="0"/>
              <a:t>	</a:t>
            </a:r>
            <a:r>
              <a:rPr lang="zh-TW" altLang="en-US" dirty="0"/>
              <a:t>不出來，卻是超額報酬（</a:t>
            </a:r>
            <a:r>
              <a:rPr lang="en-US" altLang="zh-TW" dirty="0"/>
              <a:t>Alpha</a:t>
            </a:r>
            <a:r>
              <a:rPr lang="zh-TW" altLang="en-US" dirty="0"/>
              <a:t>）的核心。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2.</a:t>
            </a:r>
            <a:r>
              <a:rPr lang="zh-TW" altLang="en-US" b="1" dirty="0"/>
              <a:t> </a:t>
            </a:r>
            <a:r>
              <a:rPr lang="en-US" altLang="zh-TW" b="1" dirty="0"/>
              <a:t>TSEC </a:t>
            </a:r>
            <a:r>
              <a:rPr lang="zh-TW" altLang="en-US" b="1" dirty="0"/>
              <a:t>逆向平衡：低 </a:t>
            </a:r>
            <a:r>
              <a:rPr lang="en-US" altLang="zh-TW" b="1" dirty="0"/>
              <a:t>Beta </a:t>
            </a:r>
            <a:r>
              <a:rPr lang="zh-TW" altLang="en-US" b="1" dirty="0"/>
              <a:t>的防禦真相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	</a:t>
            </a:r>
            <a:r>
              <a:rPr lang="zh-TW" altLang="en-US" dirty="0"/>
              <a:t>在 </a:t>
            </a:r>
            <a:r>
              <a:rPr lang="zh-TW" altLang="en-US" b="1" dirty="0"/>
              <a:t>市場恐慌時尋找支撐（均值回歸）</a:t>
            </a:r>
            <a:r>
              <a:rPr lang="zh-TW" altLang="en-US" dirty="0"/>
              <a:t>，而非盲從大盤。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3.</a:t>
            </a:r>
            <a:r>
              <a:rPr lang="zh-TW" altLang="en-US" b="1" dirty="0"/>
              <a:t> 供應鏈 </a:t>
            </a:r>
            <a:r>
              <a:rPr lang="en-US" altLang="zh-TW" b="1" dirty="0"/>
              <a:t>Alpha</a:t>
            </a:r>
            <a:r>
              <a:rPr lang="zh-TW" altLang="en-US" b="1" dirty="0"/>
              <a:t>：精準捕捉產業異動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	</a:t>
            </a:r>
            <a:r>
              <a:rPr lang="zh-TW" altLang="en-US" dirty="0"/>
              <a:t>獲利源自 </a:t>
            </a:r>
            <a:r>
              <a:rPr lang="en-US" altLang="zh-TW" b="1" dirty="0"/>
              <a:t>AI </a:t>
            </a:r>
            <a:r>
              <a:rPr lang="zh-TW" altLang="en-US" b="1" dirty="0"/>
              <a:t>供應鏈個股的非線性動能</a:t>
            </a:r>
            <a:r>
              <a:rPr lang="zh-TW" altLang="en-US" dirty="0"/>
              <a:t>。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4.</a:t>
            </a:r>
            <a:r>
              <a:rPr lang="zh-TW" altLang="en-US" b="1" dirty="0"/>
              <a:t> </a:t>
            </a:r>
            <a:r>
              <a:rPr lang="en-US" altLang="zh-TW" b="1" dirty="0"/>
              <a:t>RSI </a:t>
            </a:r>
            <a:r>
              <a:rPr lang="zh-TW" altLang="en-US" b="1" dirty="0"/>
              <a:t>過熱保護</a:t>
            </a:r>
            <a:endParaRPr lang="en-US" altLang="zh-TW" b="1" dirty="0"/>
          </a:p>
          <a:p>
            <a:pPr marL="457200" lvl="1" indent="0">
              <a:buNone/>
            </a:pPr>
            <a:r>
              <a:rPr lang="en-US" altLang="zh-TW" b="1" dirty="0"/>
              <a:t>	</a:t>
            </a:r>
            <a:r>
              <a:rPr lang="zh-TW" altLang="en-US" dirty="0"/>
              <a:t>具備「指標過熱自動減倉」的本能，進一步降低了與市場同</a:t>
            </a:r>
            <a:r>
              <a:rPr lang="en-US" altLang="zh-TW" dirty="0"/>
              <a:t>	</a:t>
            </a:r>
            <a:r>
              <a:rPr lang="zh-TW" altLang="en-US" dirty="0"/>
              <a:t>步回撤的風險，維持績效平滑。</a:t>
            </a:r>
            <a:endParaRPr lang="en-US" altLang="zh-TW" b="1" dirty="0"/>
          </a:p>
          <a:p>
            <a:pPr>
              <a:buFont typeface="Wingdings" panose="05000000000000000000" pitchFamily="2" charset="2"/>
              <a:buChar char="u"/>
            </a:pPr>
            <a:endParaRPr lang="zh-TW" altLang="en-US" sz="1800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4877D0B-B881-42AE-9816-E2E9511BDB8F}"/>
              </a:ext>
            </a:extLst>
          </p:cNvPr>
          <p:cNvSpPr/>
          <p:nvPr/>
        </p:nvSpPr>
        <p:spPr>
          <a:xfrm>
            <a:off x="1179574" y="5537200"/>
            <a:ext cx="2753360" cy="5994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2026 </a:t>
            </a:r>
            <a:r>
              <a:rPr lang="zh-TW" altLang="en-US"/>
              <a:t>實戰壓力測試結果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CC8FA941-B325-DEA5-07C6-E06AC98F3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167" y="4993840"/>
            <a:ext cx="4315427" cy="1686160"/>
          </a:xfrm>
          <a:prstGeom prst="rect">
            <a:avLst/>
          </a:prstGeom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C146BA6-9B0D-909E-FC01-E3E22D28B69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932934" y="5836920"/>
            <a:ext cx="350023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9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5EC20-4D58-E348-E3FB-A1A13D61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91" y="324188"/>
            <a:ext cx="11201399" cy="658761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結論與實戰展望 </a:t>
            </a:r>
            <a:r>
              <a:rPr lang="en-US" altLang="zh-TW" sz="2400" dirty="0"/>
              <a:t>(Conclusion &amp; Future Roadmap)</a:t>
            </a:r>
            <a:endParaRPr lang="zh-TW" altLang="en-US" sz="24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11C804-D493-6121-5EE1-81F4995F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10" y="982948"/>
            <a:ext cx="11201399" cy="35687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000" b="1" dirty="0"/>
              <a:t>核心總結：三大關鍵價值</a:t>
            </a:r>
            <a:endParaRPr lang="en-US" altLang="zh-TW" sz="2000" b="1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實體與市場之平衡</a:t>
            </a:r>
            <a:r>
              <a:rPr lang="zh-TW" altLang="en-US" sz="1800" dirty="0"/>
              <a:t>：成功整合</a:t>
            </a:r>
            <a:r>
              <a:rPr lang="zh-TW" altLang="en-US" sz="1800" b="1" dirty="0"/>
              <a:t>台指期 </a:t>
            </a:r>
            <a:r>
              <a:rPr lang="en-US" altLang="zh-TW" sz="1800" b="1" dirty="0"/>
              <a:t>(TX)</a:t>
            </a:r>
            <a:r>
              <a:rPr lang="zh-TW" altLang="en-US" sz="1800" dirty="0"/>
              <a:t> 的趨勢穩定性與 </a:t>
            </a:r>
            <a:r>
              <a:rPr lang="zh-TW" altLang="en-US" sz="1800" b="1" dirty="0"/>
              <a:t>「矽、水、電」</a:t>
            </a:r>
            <a:r>
              <a:rPr lang="zh-TW" altLang="en-US" sz="1800" dirty="0"/>
              <a:t> 三大供應鏈因子的產業預見力，克服了單一因子的侷限性。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非線性關係之發掘</a:t>
            </a:r>
            <a:r>
              <a:rPr lang="zh-TW" altLang="en-US" sz="1800" dirty="0"/>
              <a:t>：透過 </a:t>
            </a:r>
            <a:r>
              <a:rPr lang="en-US" altLang="zh-TW" sz="1800" b="1" dirty="0" err="1"/>
              <a:t>XGBoost</a:t>
            </a:r>
            <a:r>
              <a:rPr lang="zh-TW" altLang="en-US" sz="1800" dirty="0"/>
              <a:t> 與 </a:t>
            </a:r>
            <a:r>
              <a:rPr lang="en-US" altLang="zh-TW" sz="1800" b="1" dirty="0"/>
              <a:t>SHAP</a:t>
            </a:r>
            <a:r>
              <a:rPr lang="zh-TW" altLang="en-US" sz="1800" dirty="0"/>
              <a:t> 分析，證明了即便在低線性相關環境下，實體供應鏈因子仍能提供關鍵的轉折訊號。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實戰風控體系</a:t>
            </a:r>
            <a:r>
              <a:rPr lang="zh-TW" altLang="en-US" sz="1800" dirty="0"/>
              <a:t>：建立以 </a:t>
            </a:r>
            <a:r>
              <a:rPr lang="en-US" altLang="zh-TW" sz="1800" dirty="0"/>
              <a:t>ATR </a:t>
            </a:r>
            <a:r>
              <a:rPr lang="zh-TW" altLang="en-US" sz="1800" dirty="0"/>
              <a:t>為核心的動態停損與季底流動性防護，實現高夏普比率的穩健報酬。</a:t>
            </a:r>
            <a:endParaRPr lang="en-US" altLang="zh-TW" sz="18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b="1" dirty="0"/>
              <a:t>未來發展路徑 </a:t>
            </a:r>
            <a:r>
              <a:rPr lang="en-US" altLang="zh-TW" sz="2000" b="1" dirty="0"/>
              <a:t>(Roadmap)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導入個股情緒指標</a:t>
            </a:r>
            <a:r>
              <a:rPr lang="zh-TW" altLang="en-US" sz="1800" dirty="0"/>
              <a:t>：利用 </a:t>
            </a:r>
            <a:r>
              <a:rPr lang="en-US" altLang="zh-TW" sz="1800" dirty="0"/>
              <a:t>NLP </a:t>
            </a:r>
            <a:r>
              <a:rPr lang="zh-TW" altLang="en-US" sz="1800" dirty="0"/>
              <a:t>技術爬取 </a:t>
            </a:r>
            <a:r>
              <a:rPr lang="en-US" altLang="zh-TW" sz="1800" dirty="0"/>
              <a:t>PTT/</a:t>
            </a:r>
            <a:r>
              <a:rPr lang="en-US" altLang="zh-TW" sz="1800" dirty="0" err="1"/>
              <a:t>Dcard</a:t>
            </a:r>
            <a:r>
              <a:rPr lang="en-US" altLang="zh-TW" sz="1800" dirty="0"/>
              <a:t> </a:t>
            </a:r>
            <a:r>
              <a:rPr lang="zh-TW" altLang="en-US" sz="1800" dirty="0"/>
              <a:t>大眾與法人看法，強化情緒因子。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zh-TW" altLang="en-US" sz="1800" b="1" dirty="0"/>
              <a:t>強化學習優化</a:t>
            </a:r>
            <a:r>
              <a:rPr lang="zh-TW" altLang="en-US" sz="1800" dirty="0"/>
              <a:t>：預計導入 </a:t>
            </a:r>
            <a:r>
              <a:rPr lang="en-US" altLang="zh-TW" sz="1800" dirty="0"/>
              <a:t>Reinforcement Learning </a:t>
            </a:r>
            <a:r>
              <a:rPr lang="zh-TW" altLang="en-US" sz="1800" dirty="0"/>
              <a:t>進行動態位控制最佳化。</a:t>
            </a:r>
            <a:endParaRPr lang="en-US" altLang="zh-TW" sz="1800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1CD38E4-4FEB-7012-9887-C20EFFD5A852}"/>
              </a:ext>
            </a:extLst>
          </p:cNvPr>
          <p:cNvSpPr/>
          <p:nvPr/>
        </p:nvSpPr>
        <p:spPr>
          <a:xfrm>
            <a:off x="592229" y="5018296"/>
            <a:ext cx="2600960" cy="96519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實戰預測：</a:t>
            </a:r>
            <a:r>
              <a:rPr lang="en-US" altLang="zh-TW" dirty="0"/>
              <a:t>2026/03/27 – 04/02 </a:t>
            </a:r>
          </a:p>
          <a:p>
            <a:pPr algn="ctr"/>
            <a:r>
              <a:rPr lang="zh-TW" altLang="en-US" dirty="0"/>
              <a:t>具體建議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35E0A97-5D3B-0132-B8E8-CC3C9D6A5A2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025621" y="5618335"/>
            <a:ext cx="977882" cy="839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6E50F08-2196-D2D5-EA84-4D07B3D65A14}"/>
              </a:ext>
            </a:extLst>
          </p:cNvPr>
          <p:cNvSpPr/>
          <p:nvPr/>
        </p:nvSpPr>
        <p:spPr>
          <a:xfrm>
            <a:off x="9032240" y="4702140"/>
            <a:ext cx="2783840" cy="159236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專案代碼連結：</a:t>
            </a:r>
            <a:endParaRPr lang="en-US" altLang="zh-TW" dirty="0"/>
          </a:p>
          <a:p>
            <a:pPr algn="ctr"/>
            <a:r>
              <a:rPr lang="en-US" altLang="zh-TW" dirty="0"/>
              <a:t>GitHub</a:t>
            </a:r>
            <a:r>
              <a:rPr lang="zh-TW" altLang="en-US" dirty="0"/>
              <a:t>：</a:t>
            </a:r>
            <a:r>
              <a:rPr lang="en-US" altLang="zh-TW" dirty="0"/>
              <a:t>https://github.com/aajack1029-sketch/ai-.git</a:t>
            </a:r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6D62AB3-D40B-77DD-1FEA-3CCBCC55C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503" y="4702140"/>
            <a:ext cx="4184993" cy="184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67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體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173_TF22566005_Win32" id="{AE07E87B-88C6-4FF9-9060-D6A5E940403F}" vid="{57A8A2C5-DC9D-43D3-8430-9775C44C6E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未來設計</Template>
  <TotalTime>1461</TotalTime>
  <Words>1888</Words>
  <Application>Microsoft Office PowerPoint</Application>
  <PresentationFormat>寬螢幕</PresentationFormat>
  <Paragraphs>156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 UI</vt:lpstr>
      <vt:lpstr>Arial</vt:lpstr>
      <vt:lpstr>Wingdings</vt:lpstr>
      <vt:lpstr>天體</vt:lpstr>
      <vt:lpstr>半導體實體供應鏈預測模型：以台積電 (2330) 為核心之聯動分析</vt:lpstr>
      <vt:lpstr>PowerPoint 簡報</vt:lpstr>
      <vt:lpstr>系統架構與特徵工程 (System Architecture &amp; Feature Engineering)</vt:lpstr>
      <vt:lpstr>相關性驗證與非線性特徵解析 (Correlation &amp; Feature Insights)</vt:lpstr>
      <vt:lpstr>模型架構與多因子融合 (Model Architecture &amp; Feature Fusion)</vt:lpstr>
      <vt:lpstr>雙軌決策系統與動態風險過濾 (Dual-Track Decision System)</vt:lpstr>
      <vt:lpstr>半導體生產要素傳導：矽、水、電之實體驗證</vt:lpstr>
      <vt:lpstr>績效量化評估：供應鏈 Alpha 與市場 Beta 的融合成果</vt:lpstr>
      <vt:lpstr>模型可解釋性與 XAI 深度歸因 (XAI &amp; Feature Importance)</vt:lpstr>
      <vt:lpstr>結論與實戰展望 (Conclusion &amp; Future Roadmap)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陳宥諭</dc:creator>
  <cp:lastModifiedBy>陳宥諭</cp:lastModifiedBy>
  <cp:revision>20</cp:revision>
  <dcterms:created xsi:type="dcterms:W3CDTF">2026-03-05T07:35:32Z</dcterms:created>
  <dcterms:modified xsi:type="dcterms:W3CDTF">2026-03-25T09:17:21Z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